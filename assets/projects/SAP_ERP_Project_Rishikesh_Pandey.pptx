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9" r:id="rId3"/>
    <p:sldId id="270" r:id="rId5"/>
    <p:sldId id="271" r:id="rId6"/>
    <p:sldId id="256" r:id="rId7"/>
    <p:sldId id="257" r:id="rId8"/>
    <p:sldId id="258" r:id="rId9"/>
    <p:sldId id="268" r:id="rId10"/>
    <p:sldId id="259" r:id="rId11"/>
    <p:sldId id="267" r:id="rId12"/>
    <p:sldId id="260" r:id="rId13"/>
    <p:sldId id="261" r:id="rId14"/>
    <p:sldId id="263" r:id="rId15"/>
    <p:sldId id="262" r:id="rId16"/>
    <p:sldId id="264" r:id="rId17"/>
    <p:sldId id="274" r:id="rId18"/>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38" autoAdjust="0"/>
    <p:restoredTop sz="94610"/>
  </p:normalViewPr>
  <p:slideViewPr>
    <p:cSldViewPr snapToGrid="0" snapToObjects="1">
      <p:cViewPr varScale="1">
        <p:scale>
          <a:sx n="69" d="100"/>
          <a:sy n="69" d="100"/>
        </p:scale>
        <p:origin x="104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5.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9.png"/><Relationship Id="rId4" Type="http://schemas.microsoft.com/office/2007/relationships/hdphoto" Target="../media/image3.wdp"/><Relationship Id="rId3" Type="http://schemas.openxmlformats.org/officeDocument/2006/relationships/image" Target="../media/image8.png"/><Relationship Id="rId2" Type="http://schemas.microsoft.com/office/2007/relationships/hdphoto" Target="../media/image7.wdp"/><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3.jpe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blue sky with white clouds&#10;&#10;Description automatically generated"/>
          <p:cNvPicPr>
            <a:picLocks noChangeAspect="1"/>
          </p:cNvPicPr>
          <p:nvPr/>
        </p:nvPicPr>
        <p:blipFill>
          <a:blip r:embed="rId1"/>
          <a:stretch>
            <a:fillRect/>
          </a:stretch>
        </p:blipFill>
        <p:spPr>
          <a:xfrm>
            <a:off x="0" y="1"/>
            <a:ext cx="14630400" cy="8243236"/>
          </a:xfrm>
          <a:prstGeom prst="rect">
            <a:avLst/>
          </a:prstGeom>
        </p:spPr>
      </p:pic>
      <p:sp>
        <p:nvSpPr>
          <p:cNvPr id="6" name="Shape 3"/>
          <p:cNvSpPr/>
          <p:nvPr/>
        </p:nvSpPr>
        <p:spPr>
          <a:xfrm>
            <a:off x="6319599" y="5000625"/>
            <a:ext cx="355402" cy="355402"/>
          </a:xfrm>
          <a:prstGeom prst="roundRect">
            <a:avLst>
              <a:gd name="adj" fmla="val 25726039"/>
            </a:avLst>
          </a:prstGeom>
          <a:noFill/>
          <a:ln w="7620">
            <a:solidFill>
              <a:srgbClr val="FFFFFF"/>
            </a:solidFill>
            <a:prstDash val="solid"/>
          </a:ln>
        </p:spPr>
        <p:txBody>
          <a:bodyPr/>
          <a:lstStyle/>
          <a:p>
            <a:endParaRPr lang="en-IN"/>
          </a:p>
        </p:txBody>
      </p:sp>
      <p:sp>
        <p:nvSpPr>
          <p:cNvPr id="8" name="Text 4"/>
          <p:cNvSpPr/>
          <p:nvPr/>
        </p:nvSpPr>
        <p:spPr>
          <a:xfrm>
            <a:off x="6786086" y="4983956"/>
            <a:ext cx="1737360" cy="388858"/>
          </a:xfrm>
          <a:prstGeom prst="rect">
            <a:avLst/>
          </a:prstGeom>
          <a:noFill/>
        </p:spPr>
        <p:txBody>
          <a:bodyPr wrap="none" rtlCol="0" anchor="t"/>
          <a:lstStyle/>
          <a:p>
            <a:pPr marL="0" indent="0" algn="l">
              <a:lnSpc>
                <a:spcPts val="3060"/>
              </a:lnSpc>
              <a:buNone/>
            </a:pPr>
            <a:endParaRPr lang="en-US" sz="2185" dirty="0"/>
          </a:p>
        </p:txBody>
      </p:sp>
      <p:sp>
        <p:nvSpPr>
          <p:cNvPr id="14" name="TextBox 13"/>
          <p:cNvSpPr txBox="1"/>
          <p:nvPr/>
        </p:nvSpPr>
        <p:spPr>
          <a:xfrm>
            <a:off x="5765180" y="5000625"/>
            <a:ext cx="6902606" cy="2092881"/>
          </a:xfrm>
          <a:prstGeom prst="rect">
            <a:avLst/>
          </a:prstGeom>
          <a:noFill/>
        </p:spPr>
        <p:txBody>
          <a:bodyPr wrap="square" rtlCol="0">
            <a:spAutoFit/>
          </a:bodyPr>
          <a:lstStyle/>
          <a:p>
            <a:r>
              <a:rPr lang="en-US" sz="130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SAP</a:t>
            </a:r>
            <a:r>
              <a:rPr lang="en-US" sz="9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a:t>
            </a:r>
            <a:endParaRPr lang="en-IN" sz="9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endParaRPr>
          </a:p>
        </p:txBody>
      </p:sp>
      <p:pic>
        <p:nvPicPr>
          <p:cNvPr id="10" name="Picture 9" descr="A building with a tall pole&#10;&#10;Description automatically generated"/>
          <p:cNvPicPr>
            <a:picLocks noChangeAspect="1"/>
          </p:cNvPicPr>
          <p:nvPr/>
        </p:nvPicPr>
        <p:blipFill>
          <a:blip r:embed="rId2">
            <a:extLst>
              <a:ext uri="{BEBA8EAE-BF5A-486C-A8C5-ECC9F3942E4B}">
                <a14:imgProps xmlns:a14="http://schemas.microsoft.com/office/drawing/2010/main">
                  <a14:imgLayer r:embed="rId3">
                    <a14:imgEffect>
                      <a14:backgroundRemoval t="9820" b="96994" l="1376" r="99250">
                        <a14:foregroundMark x1="76798" y1="65731" x2="76798" y2="65731"/>
                        <a14:foregroundMark x1="76798" y1="59118" x2="76798" y2="59719"/>
                        <a14:foregroundMark x1="72545" y1="91784" x2="72545" y2="91784"/>
                        <a14:foregroundMark x1="63352" y1="92585" x2="63352" y2="92585"/>
                        <a14:foregroundMark x1="33458" y1="93387" x2="33458" y2="93387"/>
                        <a14:foregroundMark x1="5879" y1="82565" x2="5879" y2="82565"/>
                        <a14:foregroundMark x1="3815" y1="90180" x2="3815" y2="89780"/>
                        <a14:foregroundMark x1="31770" y1="31263" x2="31770" y2="31263"/>
                        <a14:foregroundMark x1="27767" y1="25651" x2="27767" y2="25651"/>
                        <a14:foregroundMark x1="21263" y1="25852" x2="21263" y2="25852"/>
                        <a14:foregroundMark x1="32645" y1="32665" x2="32645" y2="32665"/>
                        <a14:foregroundMark x1="34709" y1="33267" x2="34709" y2="33267"/>
                        <a14:foregroundMark x1="35397" y1="34068" x2="35585" y2="34469"/>
                        <a14:foregroundMark x1="35585" y1="34469" x2="42026" y2="40882"/>
                        <a14:foregroundMark x1="42026" y1="40882" x2="46029" y2="43487"/>
                        <a14:foregroundMark x1="56223" y1="42485" x2="60663" y2="42084"/>
                        <a14:foregroundMark x1="60663" y1="42084" x2="71232" y2="34469"/>
                        <a14:foregroundMark x1="71232" y1="34469" x2="77611" y2="24048"/>
                        <a14:foregroundMark x1="77611" y1="24048" x2="77986" y2="23848"/>
                        <a14:foregroundMark x1="79112" y1="25050" x2="82802" y2="34068"/>
                        <a14:foregroundMark x1="82802" y1="34068" x2="84053" y2="83367"/>
                        <a14:foregroundMark x1="75672" y1="67535" x2="75672" y2="67535"/>
                        <a14:foregroundMark x1="87742" y1="23647" x2="88993" y2="89379"/>
                        <a14:foregroundMark x1="89306" y1="22244" x2="89306" y2="22244"/>
                        <a14:foregroundMark x1="90557" y1="29058" x2="91119" y2="81764"/>
                        <a14:foregroundMark x1="91119" y1="81764" x2="90619" y2="89379"/>
                        <a14:foregroundMark x1="89681" y1="95792" x2="5691" y2="97194"/>
                        <a14:foregroundMark x1="1376" y1="61723" x2="1376" y2="61723"/>
                        <a14:foregroundMark x1="94872" y1="70341" x2="94872" y2="70341"/>
                        <a14:foregroundMark x1="94121" y1="87375" x2="94121" y2="87375"/>
                        <a14:foregroundMark x1="98749" y1="89178" x2="98749" y2="89178"/>
                        <a14:foregroundMark x1="98374" y1="87575" x2="98374" y2="87575"/>
                        <a14:foregroundMark x1="98186" y1="87575" x2="94121" y2="87575"/>
                        <a14:foregroundMark x1="99250" y1="83567" x2="99250" y2="83567"/>
                        <a14:foregroundMark x1="98624" y1="82365" x2="96310" y2="81964"/>
                        <a14:foregroundMark x1="95122" y1="81764" x2="95435" y2="81363"/>
                        <a14:foregroundMark x1="96936" y1="79760" x2="97311" y2="79559"/>
                        <a14:foregroundMark x1="97999" y1="80160" x2="98624" y2="80561"/>
                      </a14:backgroundRemoval>
                    </a14:imgEffect>
                  </a14:imgLayer>
                </a14:imgProps>
              </a:ext>
            </a:extLst>
          </a:blip>
          <a:stretch>
            <a:fillRect/>
          </a:stretch>
        </p:blipFill>
        <p:spPr>
          <a:xfrm>
            <a:off x="0" y="267629"/>
            <a:ext cx="14630400" cy="7983606"/>
          </a:xfrm>
          <a:prstGeom prst="rect">
            <a:avLst/>
          </a:prstGeom>
        </p:spPr>
      </p:pic>
      <p:pic>
        <p:nvPicPr>
          <p:cNvPr id="2" name="3D Model 1"/>
          <p:cNvPicPr>
            <a:picLocks noGrp="1" noRot="1" noChangeAspect="1" noMove="1" noResize="1" noEditPoints="1" noAdjustHandles="1" noChangeArrowheads="1" noChangeShapeType="1" noCrop="1"/>
          </p:cNvPicPr>
          <p:nvPr/>
        </p:nvPicPr>
        <p:blipFill>
          <a:blip r:embed="rId4"/>
          <a:stretch>
            <a:fillRect/>
          </a:stretch>
        </p:blipFill>
        <p:spPr>
          <a:xfrm>
            <a:off x="-577712" y="3889796"/>
            <a:ext cx="2083769" cy="149384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blue sky with white clouds&#10;&#10;Description automatically generated"/>
          <p:cNvPicPr>
            <a:picLocks noChangeAspect="1"/>
          </p:cNvPicPr>
          <p:nvPr/>
        </p:nvPicPr>
        <p:blipFill>
          <a:blip r:embed="rId1"/>
          <a:stretch>
            <a:fillRect/>
          </a:stretch>
        </p:blipFill>
        <p:spPr>
          <a:xfrm>
            <a:off x="-511376" y="-1"/>
            <a:ext cx="15141776" cy="8508243"/>
          </a:xfrm>
          <a:prstGeom prst="rect">
            <a:avLst/>
          </a:prstGeom>
        </p:spPr>
      </p:pic>
      <p:sp>
        <p:nvSpPr>
          <p:cNvPr id="6" name="Shape 3"/>
          <p:cNvSpPr/>
          <p:nvPr/>
        </p:nvSpPr>
        <p:spPr>
          <a:xfrm>
            <a:off x="6319599" y="5000625"/>
            <a:ext cx="355402" cy="355402"/>
          </a:xfrm>
          <a:prstGeom prst="roundRect">
            <a:avLst>
              <a:gd name="adj" fmla="val 25726039"/>
            </a:avLst>
          </a:prstGeom>
          <a:noFill/>
          <a:ln w="7620">
            <a:solidFill>
              <a:srgbClr val="FFFFFF"/>
            </a:solidFill>
            <a:prstDash val="solid"/>
          </a:ln>
        </p:spPr>
        <p:txBody>
          <a:bodyPr/>
          <a:lstStyle/>
          <a:p>
            <a:endParaRPr lang="en-IN"/>
          </a:p>
        </p:txBody>
      </p:sp>
      <p:sp>
        <p:nvSpPr>
          <p:cNvPr id="8" name="Text 4"/>
          <p:cNvSpPr/>
          <p:nvPr/>
        </p:nvSpPr>
        <p:spPr>
          <a:xfrm>
            <a:off x="6786086" y="4983956"/>
            <a:ext cx="1737360" cy="388858"/>
          </a:xfrm>
          <a:prstGeom prst="rect">
            <a:avLst/>
          </a:prstGeom>
          <a:noFill/>
        </p:spPr>
        <p:txBody>
          <a:bodyPr wrap="none" rtlCol="0" anchor="t"/>
          <a:lstStyle/>
          <a:p>
            <a:pPr marL="0" indent="0" algn="l">
              <a:lnSpc>
                <a:spcPts val="3060"/>
              </a:lnSpc>
              <a:buNone/>
            </a:pPr>
            <a:endParaRPr lang="en-US" sz="2185" dirty="0"/>
          </a:p>
        </p:txBody>
      </p:sp>
      <p:pic>
        <p:nvPicPr>
          <p:cNvPr id="10" name="Picture 9" descr="A building with a tall pole&#10;&#10;Description automatically generated"/>
          <p:cNvPicPr>
            <a:picLocks noChangeAspect="1"/>
          </p:cNvPicPr>
          <p:nvPr/>
        </p:nvPicPr>
        <p:blipFill>
          <a:blip r:embed="rId2">
            <a:extLst>
              <a:ext uri="{BEBA8EAE-BF5A-486C-A8C5-ECC9F3942E4B}">
                <a14:imgProps xmlns:a14="http://schemas.microsoft.com/office/drawing/2010/main">
                  <a14:imgLayer r:embed="rId3">
                    <a14:imgEffect>
                      <a14:backgroundRemoval t="9820" b="96994" l="1376" r="99250">
                        <a14:foregroundMark x1="76798" y1="65731" x2="76798" y2="65731"/>
                        <a14:foregroundMark x1="76798" y1="59118" x2="76798" y2="59719"/>
                        <a14:foregroundMark x1="72545" y1="91784" x2="72545" y2="91784"/>
                        <a14:foregroundMark x1="63352" y1="92585" x2="63352" y2="92585"/>
                        <a14:foregroundMark x1="33458" y1="93387" x2="33458" y2="93387"/>
                        <a14:foregroundMark x1="5879" y1="82565" x2="5879" y2="82565"/>
                        <a14:foregroundMark x1="3815" y1="90180" x2="3815" y2="89780"/>
                        <a14:foregroundMark x1="31770" y1="31263" x2="31770" y2="31263"/>
                        <a14:foregroundMark x1="27767" y1="25651" x2="27767" y2="25651"/>
                        <a14:foregroundMark x1="21263" y1="25852" x2="21263" y2="25852"/>
                        <a14:foregroundMark x1="32645" y1="32665" x2="32645" y2="32665"/>
                        <a14:foregroundMark x1="34709" y1="33267" x2="34709" y2="33267"/>
                        <a14:foregroundMark x1="35397" y1="34068" x2="35585" y2="34469"/>
                        <a14:foregroundMark x1="35585" y1="34469" x2="42026" y2="40882"/>
                        <a14:foregroundMark x1="42026" y1="40882" x2="46029" y2="43487"/>
                        <a14:foregroundMark x1="56223" y1="42485" x2="60663" y2="42084"/>
                        <a14:foregroundMark x1="60663" y1="42084" x2="71232" y2="34469"/>
                        <a14:foregroundMark x1="71232" y1="34469" x2="77611" y2="24048"/>
                        <a14:foregroundMark x1="77611" y1="24048" x2="77986" y2="23848"/>
                        <a14:foregroundMark x1="79112" y1="25050" x2="82802" y2="34068"/>
                        <a14:foregroundMark x1="82802" y1="34068" x2="84053" y2="83367"/>
                        <a14:foregroundMark x1="75672" y1="67535" x2="75672" y2="67535"/>
                        <a14:foregroundMark x1="87742" y1="23647" x2="88993" y2="89379"/>
                        <a14:foregroundMark x1="89306" y1="22244" x2="89306" y2="22244"/>
                        <a14:foregroundMark x1="90557" y1="29058" x2="91119" y2="81764"/>
                        <a14:foregroundMark x1="91119" y1="81764" x2="90619" y2="89379"/>
                        <a14:foregroundMark x1="89681" y1="95792" x2="5691" y2="97194"/>
                        <a14:foregroundMark x1="1376" y1="61723" x2="1376" y2="61723"/>
                        <a14:foregroundMark x1="94872" y1="70341" x2="94872" y2="70341"/>
                        <a14:foregroundMark x1="94121" y1="87375" x2="94121" y2="87375"/>
                        <a14:foregroundMark x1="98749" y1="89178" x2="98749" y2="89178"/>
                        <a14:foregroundMark x1="98374" y1="87575" x2="98374" y2="87575"/>
                        <a14:foregroundMark x1="98186" y1="87575" x2="94121" y2="87575"/>
                        <a14:foregroundMark x1="99250" y1="83567" x2="99250" y2="83567"/>
                        <a14:foregroundMark x1="98624" y1="82365" x2="96310" y2="81964"/>
                        <a14:foregroundMark x1="95122" y1="81764" x2="95435" y2="81363"/>
                        <a14:foregroundMark x1="96936" y1="79760" x2="97311" y2="79559"/>
                        <a14:foregroundMark x1="97999" y1="80160" x2="98624" y2="80561"/>
                      </a14:backgroundRemoval>
                    </a14:imgEffect>
                  </a14:imgLayer>
                </a14:imgProps>
              </a:ext>
            </a:extLst>
          </a:blip>
          <a:stretch>
            <a:fillRect/>
          </a:stretch>
        </p:blipFill>
        <p:spPr>
          <a:xfrm>
            <a:off x="-511377" y="267628"/>
            <a:ext cx="15141777" cy="8240267"/>
          </a:xfrm>
          <a:prstGeom prst="rect">
            <a:avLst/>
          </a:prstGeom>
        </p:spPr>
      </p:pic>
      <p:sp>
        <p:nvSpPr>
          <p:cNvPr id="14" name="TextBox 13"/>
          <p:cNvSpPr txBox="1"/>
          <p:nvPr/>
        </p:nvSpPr>
        <p:spPr>
          <a:xfrm>
            <a:off x="5765180" y="1066895"/>
            <a:ext cx="6902606" cy="2092881"/>
          </a:xfrm>
          <a:prstGeom prst="rect">
            <a:avLst/>
          </a:prstGeom>
          <a:noFill/>
        </p:spPr>
        <p:txBody>
          <a:bodyPr wrap="square" rtlCol="0">
            <a:spAutoFit/>
          </a:bodyPr>
          <a:lstStyle/>
          <a:p>
            <a:r>
              <a:rPr lang="en-US" sz="130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SAP</a:t>
            </a:r>
            <a:r>
              <a:rPr lang="en-US" sz="9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a:t>
            </a:r>
            <a:endParaRPr lang="en-IN" sz="9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9" name="Text 1"/>
          <p:cNvSpPr/>
          <p:nvPr/>
        </p:nvSpPr>
        <p:spPr>
          <a:xfrm>
            <a:off x="14842671" y="2657412"/>
            <a:ext cx="5829300" cy="833199"/>
          </a:xfrm>
          <a:prstGeom prst="rect">
            <a:avLst/>
          </a:prstGeom>
          <a:noFill/>
        </p:spPr>
        <p:txBody>
          <a:bodyPr wrap="none" rtlCol="0" anchor="t"/>
          <a:lstStyle/>
          <a:p>
            <a:pPr marL="0" indent="0">
              <a:lnSpc>
                <a:spcPts val="6560"/>
              </a:lnSpc>
              <a:buNone/>
            </a:pPr>
            <a:r>
              <a:rPr lang="en-US" sz="5250" dirty="0">
                <a:solidFill>
                  <a:schemeClr val="bg1"/>
                </a:solidFill>
                <a:latin typeface="Gelasio" pitchFamily="34" charset="0"/>
                <a:ea typeface="Gelasio" pitchFamily="34" charset="-122"/>
                <a:cs typeface="Gelasio" pitchFamily="34" charset="-120"/>
              </a:rPr>
              <a:t>Exploring SAP Labs</a:t>
            </a:r>
            <a:endParaRPr lang="en-US" sz="5250" dirty="0">
              <a:solidFill>
                <a:schemeClr val="bg1"/>
              </a:solidFill>
            </a:endParaRPr>
          </a:p>
        </p:txBody>
      </p:sp>
      <p:sp>
        <p:nvSpPr>
          <p:cNvPr id="11" name="Text 2"/>
          <p:cNvSpPr/>
          <p:nvPr/>
        </p:nvSpPr>
        <p:spPr>
          <a:xfrm>
            <a:off x="14842671" y="3759398"/>
            <a:ext cx="7477601" cy="710803"/>
          </a:xfrm>
          <a:prstGeom prst="rect">
            <a:avLst/>
          </a:prstGeom>
          <a:noFill/>
        </p:spPr>
        <p:txBody>
          <a:bodyPr wrap="square" rtlCol="0" anchor="t"/>
          <a:lstStyle/>
          <a:p>
            <a:pPr marL="0" indent="0">
              <a:lnSpc>
                <a:spcPts val="2800"/>
              </a:lnSpc>
              <a:buNone/>
            </a:pPr>
            <a:r>
              <a:rPr lang="en-US" sz="1750" dirty="0">
                <a:solidFill>
                  <a:schemeClr val="bg1"/>
                </a:solidFill>
                <a:latin typeface="Lato" pitchFamily="34" charset="0"/>
                <a:ea typeface="Lato" pitchFamily="34" charset="-122"/>
                <a:cs typeface="Lato" pitchFamily="34" charset="-120"/>
              </a:rPr>
              <a:t>Join us on a journey through the technology hub of SAP - SAP Labs, where innovation knows no bounds.</a:t>
            </a:r>
            <a:endParaRPr lang="en-US" sz="1750" dirty="0">
              <a:solidFill>
                <a:schemeClr val="bg1"/>
              </a:solidFill>
            </a:endParaRPr>
          </a:p>
        </p:txBody>
      </p:sp>
      <p:pic>
        <p:nvPicPr>
          <p:cNvPr id="12" name="3D Model 11"/>
          <p:cNvPicPr>
            <a:picLocks noGrp="1" noRot="1" noChangeAspect="1" noMove="1" noResize="1" noEditPoints="1" noAdjustHandles="1" noChangeArrowheads="1" noChangeShapeType="1" noCrop="1"/>
          </p:cNvPicPr>
          <p:nvPr/>
        </p:nvPicPr>
        <p:blipFill>
          <a:blip r:embed="rId4"/>
          <a:stretch>
            <a:fillRect/>
          </a:stretch>
        </p:blipFill>
        <p:spPr>
          <a:xfrm>
            <a:off x="-4145834" y="2511599"/>
            <a:ext cx="2694721" cy="174252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blue sky with white clouds&#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artisticBlur/>
                    </a14:imgEffect>
                  </a14:imgLayer>
                </a14:imgProps>
              </a:ext>
            </a:extLst>
          </a:blip>
          <a:stretch>
            <a:fillRect/>
          </a:stretch>
        </p:blipFill>
        <p:spPr>
          <a:xfrm>
            <a:off x="-1091758" y="0"/>
            <a:ext cx="15722158" cy="9131314"/>
          </a:xfrm>
          <a:prstGeom prst="rect">
            <a:avLst/>
          </a:prstGeom>
        </p:spPr>
      </p:pic>
      <p:sp>
        <p:nvSpPr>
          <p:cNvPr id="6" name="Shape 3"/>
          <p:cNvSpPr/>
          <p:nvPr/>
        </p:nvSpPr>
        <p:spPr>
          <a:xfrm>
            <a:off x="6319599" y="5000625"/>
            <a:ext cx="355402" cy="355402"/>
          </a:xfrm>
          <a:prstGeom prst="roundRect">
            <a:avLst>
              <a:gd name="adj" fmla="val 25726039"/>
            </a:avLst>
          </a:prstGeom>
          <a:noFill/>
          <a:ln w="7620">
            <a:solidFill>
              <a:srgbClr val="FFFFFF"/>
            </a:solidFill>
            <a:prstDash val="solid"/>
          </a:ln>
        </p:spPr>
        <p:txBody>
          <a:bodyPr/>
          <a:lstStyle/>
          <a:p>
            <a:endParaRPr lang="en-IN"/>
          </a:p>
        </p:txBody>
      </p:sp>
      <p:sp>
        <p:nvSpPr>
          <p:cNvPr id="8" name="Text 4"/>
          <p:cNvSpPr/>
          <p:nvPr/>
        </p:nvSpPr>
        <p:spPr>
          <a:xfrm>
            <a:off x="6786086" y="4983956"/>
            <a:ext cx="1737360" cy="388858"/>
          </a:xfrm>
          <a:prstGeom prst="rect">
            <a:avLst/>
          </a:prstGeom>
          <a:noFill/>
        </p:spPr>
        <p:txBody>
          <a:bodyPr wrap="none" rtlCol="0" anchor="t"/>
          <a:lstStyle/>
          <a:p>
            <a:pPr marL="0" indent="0" algn="l">
              <a:lnSpc>
                <a:spcPts val="3060"/>
              </a:lnSpc>
              <a:buNone/>
            </a:pPr>
            <a:endParaRPr lang="en-US" sz="2185" dirty="0"/>
          </a:p>
        </p:txBody>
      </p:sp>
      <p:pic>
        <p:nvPicPr>
          <p:cNvPr id="10" name="Picture 9" descr="A building with a tall pole&#10;&#10;Description automatically generated"/>
          <p:cNvPicPr>
            <a:picLocks noChangeAspect="1"/>
          </p:cNvPicPr>
          <p:nvPr/>
        </p:nvPicPr>
        <p:blipFill>
          <a:blip r:embed="rId3">
            <a:extLst>
              <a:ext uri="{BEBA8EAE-BF5A-486C-A8C5-ECC9F3942E4B}">
                <a14:imgProps xmlns:a14="http://schemas.microsoft.com/office/drawing/2010/main">
                  <a14:imgLayer r:embed="rId4">
                    <a14:imgEffect>
                      <a14:artisticBlur/>
                    </a14:imgEffect>
                    <a14:imgEffect>
                      <a14:backgroundRemoval t="9820" b="96994" l="1376" r="99250">
                        <a14:foregroundMark x1="76798" y1="65731" x2="76798" y2="65731"/>
                        <a14:foregroundMark x1="76798" y1="59118" x2="76798" y2="59719"/>
                        <a14:foregroundMark x1="72545" y1="91784" x2="72545" y2="91784"/>
                        <a14:foregroundMark x1="63352" y1="92585" x2="63352" y2="92585"/>
                        <a14:foregroundMark x1="33458" y1="93387" x2="33458" y2="93387"/>
                        <a14:foregroundMark x1="5879" y1="82565" x2="5879" y2="82565"/>
                        <a14:foregroundMark x1="3815" y1="90180" x2="3815" y2="89780"/>
                        <a14:foregroundMark x1="31770" y1="31263" x2="31770" y2="31263"/>
                        <a14:foregroundMark x1="27767" y1="25651" x2="27767" y2="25651"/>
                        <a14:foregroundMark x1="21263" y1="25852" x2="21263" y2="25852"/>
                        <a14:foregroundMark x1="32645" y1="32665" x2="32645" y2="32665"/>
                        <a14:foregroundMark x1="34709" y1="33267" x2="34709" y2="33267"/>
                        <a14:foregroundMark x1="35397" y1="34068" x2="35585" y2="34469"/>
                        <a14:foregroundMark x1="35585" y1="34469" x2="42026" y2="40882"/>
                        <a14:foregroundMark x1="42026" y1="40882" x2="46029" y2="43487"/>
                        <a14:foregroundMark x1="56223" y1="42485" x2="60663" y2="42084"/>
                        <a14:foregroundMark x1="60663" y1="42084" x2="71232" y2="34469"/>
                        <a14:foregroundMark x1="71232" y1="34469" x2="77611" y2="24048"/>
                        <a14:foregroundMark x1="77611" y1="24048" x2="77986" y2="23848"/>
                        <a14:foregroundMark x1="79112" y1="25050" x2="82802" y2="34068"/>
                        <a14:foregroundMark x1="82802" y1="34068" x2="84053" y2="83367"/>
                        <a14:foregroundMark x1="75672" y1="67535" x2="75672" y2="67535"/>
                        <a14:foregroundMark x1="87742" y1="23647" x2="88993" y2="89379"/>
                        <a14:foregroundMark x1="89306" y1="22244" x2="89306" y2="22244"/>
                        <a14:foregroundMark x1="90557" y1="29058" x2="91119" y2="81764"/>
                        <a14:foregroundMark x1="91119" y1="81764" x2="90619" y2="89379"/>
                        <a14:foregroundMark x1="89681" y1="95792" x2="5691" y2="97194"/>
                        <a14:foregroundMark x1="1376" y1="61723" x2="1376" y2="61723"/>
                        <a14:foregroundMark x1="94872" y1="70341" x2="94872" y2="70341"/>
                        <a14:foregroundMark x1="94121" y1="87375" x2="94121" y2="87375"/>
                        <a14:foregroundMark x1="98749" y1="89178" x2="98749" y2="89178"/>
                        <a14:foregroundMark x1="98374" y1="87575" x2="98374" y2="87575"/>
                        <a14:foregroundMark x1="98186" y1="87575" x2="94121" y2="87575"/>
                        <a14:foregroundMark x1="99250" y1="83567" x2="99250" y2="83567"/>
                        <a14:foregroundMark x1="98624" y1="82365" x2="96310" y2="81964"/>
                        <a14:foregroundMark x1="95122" y1="81764" x2="95435" y2="81363"/>
                        <a14:foregroundMark x1="96936" y1="79760" x2="97311" y2="79559"/>
                        <a14:foregroundMark x1="97999" y1="80160" x2="98624" y2="80561"/>
                      </a14:backgroundRemoval>
                    </a14:imgEffect>
                  </a14:imgLayer>
                </a14:imgProps>
              </a:ext>
            </a:extLst>
          </a:blip>
          <a:stretch>
            <a:fillRect/>
          </a:stretch>
        </p:blipFill>
        <p:spPr>
          <a:xfrm>
            <a:off x="-1091758" y="267629"/>
            <a:ext cx="15722158" cy="8843714"/>
          </a:xfrm>
          <a:prstGeom prst="rect">
            <a:avLst/>
          </a:prstGeom>
        </p:spPr>
      </p:pic>
      <p:sp>
        <p:nvSpPr>
          <p:cNvPr id="14" name="TextBox 13"/>
          <p:cNvSpPr txBox="1"/>
          <p:nvPr/>
        </p:nvSpPr>
        <p:spPr>
          <a:xfrm>
            <a:off x="947619" y="0"/>
            <a:ext cx="6902606" cy="1569660"/>
          </a:xfrm>
          <a:prstGeom prst="rect">
            <a:avLst/>
          </a:prstGeom>
          <a:noFill/>
        </p:spPr>
        <p:txBody>
          <a:bodyPr wrap="square" rtlCol="0">
            <a:spAutoFit/>
          </a:bodyPr>
          <a:lstStyle/>
          <a:p>
            <a:r>
              <a:rPr lang="en-US" sz="7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SAP</a:t>
            </a:r>
            <a:r>
              <a:rPr lang="en-US" sz="9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a:t>
            </a:r>
            <a:endParaRPr lang="en-IN" sz="9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9" name="Text 1"/>
          <p:cNvSpPr/>
          <p:nvPr/>
        </p:nvSpPr>
        <p:spPr>
          <a:xfrm>
            <a:off x="4740116" y="2605725"/>
            <a:ext cx="5829300" cy="833199"/>
          </a:xfrm>
          <a:prstGeom prst="rect">
            <a:avLst/>
          </a:prstGeom>
          <a:noFill/>
        </p:spPr>
        <p:txBody>
          <a:bodyPr wrap="none" rtlCol="0" anchor="t"/>
          <a:lstStyle/>
          <a:p>
            <a:pPr algn="ctr"/>
            <a:r>
              <a:rPr lang="en-US" sz="5400" b="1" dirty="0"/>
              <a:t>Small-Medium Enterprise (SME)</a:t>
            </a:r>
            <a:endParaRPr lang="en-US" sz="5400" b="1" dirty="0"/>
          </a:p>
          <a:p>
            <a:pPr algn="ctr"/>
            <a:r>
              <a:rPr lang="en-US" sz="5400" b="1" dirty="0"/>
              <a:t> using SAP tool in Automobile Industry</a:t>
            </a:r>
            <a:endParaRPr lang="en-US" sz="5400" b="1" dirty="0"/>
          </a:p>
        </p:txBody>
      </p:sp>
      <p:sp>
        <p:nvSpPr>
          <p:cNvPr id="11" name="Text 2"/>
          <p:cNvSpPr/>
          <p:nvPr/>
        </p:nvSpPr>
        <p:spPr>
          <a:xfrm>
            <a:off x="4108410" y="3797757"/>
            <a:ext cx="9388929" cy="1973776"/>
          </a:xfrm>
          <a:prstGeom prst="rect">
            <a:avLst/>
          </a:prstGeom>
          <a:noFill/>
        </p:spPr>
        <p:txBody>
          <a:bodyPr wrap="square" rtlCol="0" anchor="t"/>
          <a:lstStyle/>
          <a:p>
            <a:pPr marL="0" indent="0">
              <a:lnSpc>
                <a:spcPts val="2800"/>
              </a:lnSpc>
              <a:buNone/>
            </a:pPr>
            <a:endParaRPr lang="en-US" sz="3200" dirty="0">
              <a:solidFill>
                <a:schemeClr val="bg1"/>
              </a:solidFill>
            </a:endParaRPr>
          </a:p>
        </p:txBody>
      </p:sp>
      <p:pic>
        <p:nvPicPr>
          <p:cNvPr id="3" name="3D Model 2"/>
          <p:cNvPicPr>
            <a:picLocks noGrp="1" noRot="1" noChangeAspect="1" noMove="1" noResize="1" noEditPoints="1" noAdjustHandles="1" noChangeArrowheads="1" noChangeShapeType="1" noCrop="1"/>
          </p:cNvPicPr>
          <p:nvPr/>
        </p:nvPicPr>
        <p:blipFill>
          <a:blip r:embed="rId5"/>
          <a:stretch>
            <a:fillRect/>
          </a:stretch>
        </p:blipFill>
        <p:spPr>
          <a:xfrm>
            <a:off x="12042286" y="249002"/>
            <a:ext cx="2694722" cy="178061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20912" y="-8493"/>
            <a:ext cx="14630400" cy="8229600"/>
          </a:xfrm>
          <a:prstGeom prst="rect">
            <a:avLst/>
          </a:prstGeom>
          <a:solidFill>
            <a:srgbClr val="FFFFFF">
              <a:alpha val="75000"/>
            </a:srgbClr>
          </a:solidFill>
          <a:ln w="13811">
            <a:solidFill>
              <a:srgbClr val="FFFFFF">
                <a:alpha val="64000"/>
              </a:srgbClr>
            </a:solidFill>
            <a:prstDash val="solid"/>
          </a:ln>
        </p:spPr>
        <p:txBody>
          <a:bodyPr/>
          <a:lstStyle/>
          <a:p>
            <a:endParaRPr lang="en-IN" dirty="0"/>
          </a:p>
        </p:txBody>
      </p:sp>
      <p:sp>
        <p:nvSpPr>
          <p:cNvPr id="4" name="Text 1"/>
          <p:cNvSpPr/>
          <p:nvPr/>
        </p:nvSpPr>
        <p:spPr>
          <a:xfrm>
            <a:off x="6196936" y="2090450"/>
            <a:ext cx="7385250" cy="1258014"/>
          </a:xfrm>
          <a:prstGeom prst="rect">
            <a:avLst/>
          </a:prstGeom>
          <a:noFill/>
        </p:spPr>
        <p:txBody>
          <a:bodyPr wrap="none" rtlCol="0" anchor="t"/>
          <a:lstStyle/>
          <a:p>
            <a:pPr algn="ctr"/>
            <a:r>
              <a:rPr lang="en-US" sz="3600" b="1" dirty="0"/>
              <a:t>Small-Medium Enterprise (SME)</a:t>
            </a:r>
            <a:endParaRPr lang="en-US" sz="3600" b="1" dirty="0"/>
          </a:p>
          <a:p>
            <a:pPr algn="ctr"/>
            <a:r>
              <a:rPr lang="en-US" sz="3600" b="1" dirty="0"/>
              <a:t> using SAP tool in Automobile Industry</a:t>
            </a:r>
            <a:endParaRPr lang="en-US" sz="3600" b="1" dirty="0"/>
          </a:p>
          <a:p>
            <a:pPr algn="ctr"/>
            <a:endParaRPr lang="en-IN" sz="3600" b="1" dirty="0"/>
          </a:p>
        </p:txBody>
      </p:sp>
      <p:sp>
        <p:nvSpPr>
          <p:cNvPr id="5" name="Text 2"/>
          <p:cNvSpPr/>
          <p:nvPr/>
        </p:nvSpPr>
        <p:spPr>
          <a:xfrm>
            <a:off x="6319598" y="4178701"/>
            <a:ext cx="7477601" cy="2902225"/>
          </a:xfrm>
          <a:prstGeom prst="rect">
            <a:avLst/>
          </a:prstGeom>
          <a:noFill/>
        </p:spPr>
        <p:txBody>
          <a:bodyPr wrap="square" rtlCol="0" anchor="t"/>
          <a:lstStyle/>
          <a:p>
            <a:r>
              <a:rPr lang="en-IN" sz="1600" b="1" dirty="0"/>
              <a:t>                                                                                              Submitted to :- </a:t>
            </a:r>
            <a:endParaRPr lang="en-IN" sz="1600" b="1" dirty="0"/>
          </a:p>
          <a:p>
            <a:r>
              <a:rPr lang="en-IN" sz="1600" b="1" dirty="0"/>
              <a:t> </a:t>
            </a:r>
            <a:r>
              <a:rPr lang="en-IN" sz="2000" b="1" dirty="0"/>
              <a:t>Project submitted by :- </a:t>
            </a:r>
            <a:r>
              <a:rPr lang="en-IN" b="1" dirty="0"/>
              <a:t>Rishikesh Pandey- </a:t>
            </a:r>
            <a:endParaRPr lang="en-US" b="1" dirty="0"/>
          </a:p>
        </p:txBody>
      </p:sp>
      <p:sp>
        <p:nvSpPr>
          <p:cNvPr id="6" name="Shape 3"/>
          <p:cNvSpPr/>
          <p:nvPr/>
        </p:nvSpPr>
        <p:spPr>
          <a:xfrm>
            <a:off x="6319599" y="5000625"/>
            <a:ext cx="355402" cy="355402"/>
          </a:xfrm>
          <a:prstGeom prst="roundRect">
            <a:avLst>
              <a:gd name="adj" fmla="val 25726039"/>
            </a:avLst>
          </a:prstGeom>
          <a:noFill/>
          <a:ln w="7620">
            <a:solidFill>
              <a:srgbClr val="FFFFFF"/>
            </a:solidFill>
            <a:prstDash val="solid"/>
          </a:ln>
        </p:spPr>
        <p:txBody>
          <a:bodyPr/>
          <a:lstStyle/>
          <a:p>
            <a:endParaRPr lang="en-IN"/>
          </a:p>
        </p:txBody>
      </p:sp>
      <p:sp>
        <p:nvSpPr>
          <p:cNvPr id="8" name="Text 4"/>
          <p:cNvSpPr/>
          <p:nvPr/>
        </p:nvSpPr>
        <p:spPr>
          <a:xfrm>
            <a:off x="6786086" y="4983956"/>
            <a:ext cx="1737360" cy="388858"/>
          </a:xfrm>
          <a:prstGeom prst="rect">
            <a:avLst/>
          </a:prstGeom>
          <a:noFill/>
        </p:spPr>
        <p:txBody>
          <a:bodyPr wrap="none" rtlCol="0" anchor="t"/>
          <a:lstStyle/>
          <a:p>
            <a:pPr marL="0" indent="0" algn="l">
              <a:lnSpc>
                <a:spcPts val="3060"/>
              </a:lnSpc>
              <a:buNone/>
            </a:pPr>
            <a:endParaRPr lang="en-US" sz="2185" dirty="0"/>
          </a:p>
        </p:txBody>
      </p:sp>
      <p:pic>
        <p:nvPicPr>
          <p:cNvPr id="11" name="3D Model 10"/>
          <p:cNvPicPr>
            <a:picLocks noGrp="1" noRot="1" noChangeAspect="1" noMove="1" noResize="1" noEditPoints="1" noAdjustHandles="1" noChangeArrowheads="1" noChangeShapeType="1" noCrop="1"/>
          </p:cNvPicPr>
          <p:nvPr/>
        </p:nvPicPr>
        <p:blipFill>
          <a:blip r:embed="rId2"/>
          <a:stretch>
            <a:fillRect/>
          </a:stretch>
        </p:blipFill>
        <p:spPr>
          <a:xfrm>
            <a:off x="12127986" y="201394"/>
            <a:ext cx="2523326" cy="187583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5507311" cy="8260967"/>
          </a:xfrm>
          <a:prstGeom prst="rect">
            <a:avLst/>
          </a:prstGeom>
        </p:spPr>
      </p:pic>
      <p:sp>
        <p:nvSpPr>
          <p:cNvPr id="10" name="TextBox 9"/>
          <p:cNvSpPr txBox="1"/>
          <p:nvPr/>
        </p:nvSpPr>
        <p:spPr>
          <a:xfrm>
            <a:off x="6675001" y="3459976"/>
            <a:ext cx="7563669" cy="646331"/>
          </a:xfrm>
          <a:prstGeom prst="rect">
            <a:avLst/>
          </a:prstGeom>
          <a:noFill/>
        </p:spPr>
        <p:txBody>
          <a:bodyPr wrap="square" rtlCol="0">
            <a:spAutoFit/>
          </a:bodyPr>
          <a:lstStyle/>
          <a:p>
            <a:r>
              <a:rPr lang="en-US" b="1" dirty="0"/>
              <a:t>MASTER OF BUSINESS ADMINISTRATION OF GALGOTIAS UNIVERSITY</a:t>
            </a:r>
            <a:endParaRPr lang="en-US" b="1" dirty="0"/>
          </a:p>
          <a:p>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grpId="0" nodeType="clickEffect">
                                  <p:stCondLst>
                                    <p:cond delay="0"/>
                                  </p:stCondLst>
                                  <p:childTnLst>
                                    <p:animEffect transition="out" filter="fade">
                                      <p:cBhvr>
                                        <p:cTn id="19" dur="500" tmFilter="0, 0; .2, .5; .8, .5; 1, 0"/>
                                        <p:tgtEl>
                                          <p:spTgt spid="5"/>
                                        </p:tgtEl>
                                      </p:cBhvr>
                                    </p:animEffect>
                                    <p:animScale>
                                      <p:cBhvr>
                                        <p:cTn id="20"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3D Model 17"/>
          <p:cNvPicPr>
            <a:picLocks noGrp="1" noRot="1" noChangeAspect="1" noMove="1" noResize="1" noEditPoints="1" noAdjustHandles="1" noChangeArrowheads="1" noChangeShapeType="1" noCrop="1"/>
          </p:cNvPicPr>
          <p:nvPr/>
        </p:nvPicPr>
        <p:blipFill>
          <a:blip r:embed="rId1"/>
          <a:stretch>
            <a:fillRect/>
          </a:stretch>
        </p:blipFill>
        <p:spPr>
          <a:xfrm>
            <a:off x="-281939" y="1620163"/>
            <a:ext cx="2409059" cy="1799655"/>
          </a:xfrm>
          <a:prstGeom prst="rect">
            <a:avLst/>
          </a:prstGeom>
        </p:spPr>
      </p:pic>
      <p:sp>
        <p:nvSpPr>
          <p:cNvPr id="14" name="TextBox 13"/>
          <p:cNvSpPr txBox="1"/>
          <p:nvPr/>
        </p:nvSpPr>
        <p:spPr>
          <a:xfrm>
            <a:off x="2308304" y="1044656"/>
            <a:ext cx="11586372" cy="6801862"/>
          </a:xfrm>
          <a:prstGeom prst="rect">
            <a:avLst/>
          </a:prstGeom>
          <a:noFill/>
        </p:spPr>
        <p:txBody>
          <a:bodyPr wrap="square" rtlCol="0">
            <a:spAutoFit/>
          </a:bodyPr>
          <a:lstStyle/>
          <a:p>
            <a:endParaRPr lang="en-US" sz="2000" dirty="0"/>
          </a:p>
          <a:p>
            <a:pPr marL="342900" indent="-342900">
              <a:buFont typeface="Wingdings" panose="05000000000000000000" pitchFamily="2" charset="2"/>
              <a:buChar char="Ø"/>
            </a:pPr>
            <a:r>
              <a:rPr lang="en-US" sz="2400" dirty="0"/>
              <a:t>The automotive sector can integrate and optimize various facets of their operations, including supply chain management, production planning, and financial processes. </a:t>
            </a:r>
            <a:endParaRPr lang="en-US" sz="2400" dirty="0"/>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The SAP tool facilitates real-time data access, fostering informed decision-making and enabling SME to respond swiftly to market demands.</a:t>
            </a:r>
            <a:endParaRPr lang="en-US" sz="2400" dirty="0"/>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 This technology not only enhances operational efficiency but also promotes agility, positioning SMEs in the automobile industry to navigate challenges and capitalize on emerging opportunities in a highly competitive environment.</a:t>
            </a:r>
            <a:endParaRPr lang="en-US" sz="2400" dirty="0"/>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000" dirty="0">
                <a:solidFill>
                  <a:srgbClr val="15213F"/>
                </a:solidFill>
                <a:latin typeface="Roboto" pitchFamily="34" charset="0"/>
                <a:ea typeface="Roboto" pitchFamily="34" charset="-122"/>
                <a:cs typeface="Roboto" pitchFamily="34" charset="-120"/>
              </a:rPr>
              <a:t>Efficient processes help SMEs gain a competitive edge in the fast-paced automobile industry.</a:t>
            </a:r>
            <a:endParaRPr lang="en-US" sz="2000" dirty="0">
              <a:solidFill>
                <a:srgbClr val="15213F"/>
              </a:solidFill>
              <a:latin typeface="Roboto" pitchFamily="34" charset="0"/>
              <a:ea typeface="Roboto" pitchFamily="34" charset="-122"/>
              <a:cs typeface="Roboto" pitchFamily="34" charset="-120"/>
            </a:endParaRPr>
          </a:p>
          <a:p>
            <a:pPr marL="342900" indent="-342900">
              <a:buFont typeface="Wingdings" panose="05000000000000000000" pitchFamily="2" charset="2"/>
              <a:buChar char="Ø"/>
            </a:pPr>
            <a:endParaRPr lang="en-US" sz="2000" dirty="0">
              <a:solidFill>
                <a:srgbClr val="15213F"/>
              </a:solidFill>
              <a:latin typeface="Roboto" pitchFamily="34" charset="0"/>
              <a:ea typeface="Roboto" pitchFamily="34" charset="-122"/>
              <a:cs typeface="Roboto" pitchFamily="34" charset="-120"/>
            </a:endParaRPr>
          </a:p>
          <a:p>
            <a:pPr marL="342900" indent="-342900">
              <a:buFont typeface="Wingdings" panose="05000000000000000000" pitchFamily="2" charset="2"/>
              <a:buChar char="Ø"/>
            </a:pPr>
            <a:r>
              <a:rPr lang="en-US" sz="2000" dirty="0">
                <a:solidFill>
                  <a:srgbClr val="15213F"/>
                </a:solidFill>
                <a:latin typeface="Roboto" pitchFamily="34" charset="0"/>
                <a:ea typeface="Roboto" pitchFamily="34" charset="-122"/>
                <a:cs typeface="Roboto" pitchFamily="34" charset="-120"/>
              </a:rPr>
              <a:t>Improving efficiency leads to reduced waste and optimized resource utilization, resulting in cost savings for SMEs.</a:t>
            </a:r>
            <a:endParaRPr lang="en-US" sz="2000" dirty="0"/>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solidFill>
                  <a:srgbClr val="15213F"/>
                </a:solidFill>
                <a:latin typeface="Roboto" pitchFamily="34" charset="0"/>
                <a:ea typeface="Roboto" pitchFamily="34" charset="-122"/>
                <a:cs typeface="Roboto" pitchFamily="34" charset="-120"/>
              </a:rPr>
              <a:t>Efficient processes enable SMEs to deliver products and services with quicker turnaround times, ensuring higher customer satisfaction.</a:t>
            </a:r>
            <a:endParaRPr lang="en-US" sz="2000" dirty="0"/>
          </a:p>
          <a:p>
            <a:endParaRPr lang="en-US" dirty="0"/>
          </a:p>
          <a:p>
            <a:endParaRPr lang="en-IN" dirty="0"/>
          </a:p>
        </p:txBody>
      </p:sp>
      <p:sp>
        <p:nvSpPr>
          <p:cNvPr id="15" name="TextBox 14"/>
          <p:cNvSpPr txBox="1"/>
          <p:nvPr/>
        </p:nvSpPr>
        <p:spPr>
          <a:xfrm>
            <a:off x="3389970" y="563190"/>
            <a:ext cx="8586439" cy="707886"/>
          </a:xfrm>
          <a:prstGeom prst="rect">
            <a:avLst/>
          </a:prstGeom>
          <a:noFill/>
        </p:spPr>
        <p:txBody>
          <a:bodyPr wrap="square" rtlCol="0">
            <a:spAutoFit/>
          </a:bodyPr>
          <a:lstStyle/>
          <a:p>
            <a:pPr algn="ctr"/>
            <a:r>
              <a:rPr lang="en-IN" sz="4000" b="1" dirty="0"/>
              <a:t>INTRODUCTION</a:t>
            </a:r>
            <a:endParaRPr lang="en-IN" sz="40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2000" fill="hold"/>
                                        <p:tgtEl>
                                          <p:spTgt spid="15"/>
                                        </p:tgtEl>
                                        <p:attrNameLst>
                                          <p:attrName>style.color</p:attrName>
                                        </p:attrNameLst>
                                      </p:cBhvr>
                                      <p:to>
                                        <a:schemeClr val="accent2"/>
                                      </p:to>
                                    </p:animClr>
                                  </p:childTnLst>
                                </p:cTn>
                              </p:par>
                            </p:childTnLst>
                          </p:cTn>
                        </p:par>
                      </p:childTnLst>
                    </p:cTn>
                  </p:par>
                  <p:par>
                    <p:cTn id="7" fill="hold">
                      <p:stCondLst>
                        <p:cond delay="indefinite"/>
                      </p:stCondLst>
                      <p:childTnLst>
                        <p:par>
                          <p:cTn id="8" fill="hold">
                            <p:stCondLst>
                              <p:cond delay="0"/>
                            </p:stCondLst>
                            <p:childTnLst>
                              <p:par>
                                <p:cTn id="9" presetID="15" presetClass="emph" presetSubtype="0" grpId="0" nodeType="clickEffect">
                                  <p:stCondLst>
                                    <p:cond delay="0"/>
                                  </p:stCondLst>
                                  <p:iterate type="lt">
                                    <p:tmAbs val="25"/>
                                  </p:iterate>
                                  <p:childTnLst>
                                    <p:set>
                                      <p:cBhvr override="childStyle">
                                        <p:cTn id="10" dur="indefinite"/>
                                        <p:tgtEl>
                                          <p:spTgt spid="14"/>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w="13811">
            <a:solidFill>
              <a:srgbClr val="FFFFFF">
                <a:alpha val="64000"/>
              </a:srgbClr>
            </a:solidFill>
            <a:prstDash val="solid"/>
          </a:ln>
        </p:spPr>
        <p:txBody>
          <a:bodyPr/>
          <a:lstStyle/>
          <a:p>
            <a:endParaRPr lang="en-IN"/>
          </a:p>
        </p:txBody>
      </p:sp>
      <p:sp>
        <p:nvSpPr>
          <p:cNvPr id="4" name="Text 1"/>
          <p:cNvSpPr/>
          <p:nvPr/>
        </p:nvSpPr>
        <p:spPr>
          <a:xfrm>
            <a:off x="2037993" y="1354336"/>
            <a:ext cx="7663762" cy="694373"/>
          </a:xfrm>
          <a:prstGeom prst="rect">
            <a:avLst/>
          </a:prstGeom>
          <a:noFill/>
        </p:spPr>
        <p:txBody>
          <a:bodyPr wrap="none" rtlCol="0" anchor="t"/>
          <a:lstStyle/>
          <a:p>
            <a:pPr marL="571500" indent="-571500">
              <a:lnSpc>
                <a:spcPts val="5470"/>
              </a:lnSpc>
              <a:buFont typeface="Wingdings" panose="05000000000000000000" pitchFamily="2" charset="2"/>
              <a:buChar char="v"/>
            </a:pPr>
            <a:r>
              <a:rPr lang="en-US" sz="4375" dirty="0">
                <a:solidFill>
                  <a:srgbClr val="312F2B"/>
                </a:solidFill>
                <a:latin typeface="Gelasio" pitchFamily="34" charset="0"/>
                <a:ea typeface="Gelasio" pitchFamily="34" charset="-122"/>
                <a:cs typeface="Gelasio" pitchFamily="34" charset="-120"/>
              </a:rPr>
              <a:t>Importance of Efficient Processes</a:t>
            </a:r>
            <a:endParaRPr lang="en-US" sz="4375" dirty="0"/>
          </a:p>
        </p:txBody>
      </p:sp>
      <p:sp>
        <p:nvSpPr>
          <p:cNvPr id="5" name="Shape 2"/>
          <p:cNvSpPr/>
          <p:nvPr/>
        </p:nvSpPr>
        <p:spPr>
          <a:xfrm>
            <a:off x="7293054" y="2493050"/>
            <a:ext cx="44410" cy="4382095"/>
          </a:xfrm>
          <a:prstGeom prst="rect">
            <a:avLst/>
          </a:prstGeom>
          <a:solidFill>
            <a:srgbClr val="D1D1C7"/>
          </a:solidFill>
        </p:spPr>
        <p:txBody>
          <a:bodyPr/>
          <a:lstStyle/>
          <a:p>
            <a:endParaRPr lang="en-IN"/>
          </a:p>
        </p:txBody>
      </p:sp>
      <p:sp>
        <p:nvSpPr>
          <p:cNvPr id="6" name="Shape 3"/>
          <p:cNvSpPr/>
          <p:nvPr/>
        </p:nvSpPr>
        <p:spPr>
          <a:xfrm>
            <a:off x="7565172" y="2894350"/>
            <a:ext cx="777597" cy="44410"/>
          </a:xfrm>
          <a:prstGeom prst="rect">
            <a:avLst/>
          </a:prstGeom>
          <a:solidFill>
            <a:srgbClr val="D1D1C7"/>
          </a:solidFill>
        </p:spPr>
        <p:txBody>
          <a:bodyPr/>
          <a:lstStyle/>
          <a:p>
            <a:endParaRPr lang="en-IN"/>
          </a:p>
        </p:txBody>
      </p:sp>
      <p:sp>
        <p:nvSpPr>
          <p:cNvPr id="7" name="Shape 4"/>
          <p:cNvSpPr/>
          <p:nvPr/>
        </p:nvSpPr>
        <p:spPr>
          <a:xfrm>
            <a:off x="7065228" y="2666643"/>
            <a:ext cx="499943" cy="499943"/>
          </a:xfrm>
          <a:prstGeom prst="roundRect">
            <a:avLst>
              <a:gd name="adj" fmla="val 20000"/>
            </a:avLst>
          </a:prstGeom>
          <a:solidFill>
            <a:srgbClr val="E8E8E3"/>
          </a:solidFill>
          <a:ln w="13811">
            <a:solidFill>
              <a:srgbClr val="D1D1C7"/>
            </a:solidFill>
            <a:prstDash val="solid"/>
          </a:ln>
        </p:spPr>
        <p:txBody>
          <a:bodyPr/>
          <a:lstStyle/>
          <a:p>
            <a:endParaRPr lang="en-IN"/>
          </a:p>
        </p:txBody>
      </p:sp>
      <p:sp>
        <p:nvSpPr>
          <p:cNvPr id="8" name="Text 5"/>
          <p:cNvSpPr/>
          <p:nvPr/>
        </p:nvSpPr>
        <p:spPr>
          <a:xfrm>
            <a:off x="7242750" y="2708315"/>
            <a:ext cx="144780" cy="416481"/>
          </a:xfrm>
          <a:prstGeom prst="rect">
            <a:avLst/>
          </a:prstGeom>
          <a:noFill/>
        </p:spPr>
        <p:txBody>
          <a:bodyPr wrap="none" rtlCol="0" anchor="t"/>
          <a:lstStyle/>
          <a:p>
            <a:pPr marL="0" indent="0" algn="ctr">
              <a:lnSpc>
                <a:spcPts val="3280"/>
              </a:lnSpc>
              <a:buNone/>
            </a:pPr>
            <a:r>
              <a:rPr lang="en-US" sz="2625" dirty="0">
                <a:solidFill>
                  <a:srgbClr val="272525"/>
                </a:solidFill>
                <a:latin typeface="Gelasio" pitchFamily="34" charset="0"/>
                <a:ea typeface="Gelasio" pitchFamily="34" charset="-122"/>
                <a:cs typeface="Gelasio" pitchFamily="34" charset="-120"/>
              </a:rPr>
              <a:t>1</a:t>
            </a:r>
            <a:endParaRPr lang="en-US" sz="2625" dirty="0"/>
          </a:p>
        </p:txBody>
      </p:sp>
      <p:sp>
        <p:nvSpPr>
          <p:cNvPr id="9" name="Text 6"/>
          <p:cNvSpPr/>
          <p:nvPr/>
        </p:nvSpPr>
        <p:spPr>
          <a:xfrm>
            <a:off x="8537258" y="2562463"/>
            <a:ext cx="3782282" cy="722114"/>
          </a:xfrm>
          <a:prstGeom prst="rect">
            <a:avLst/>
          </a:prstGeom>
          <a:noFill/>
        </p:spPr>
        <p:txBody>
          <a:bodyPr wrap="none" rtlCol="0" anchor="t"/>
          <a:lstStyle/>
          <a:p>
            <a:pPr marL="342900" indent="-342900" algn="l">
              <a:lnSpc>
                <a:spcPts val="2735"/>
              </a:lnSpc>
              <a:buFont typeface="Arial" panose="020B0604020202020204" pitchFamily="34" charset="0"/>
              <a:buChar char="•"/>
            </a:pPr>
            <a:r>
              <a:rPr lang="en-US" sz="2185" b="1" dirty="0">
                <a:solidFill>
                  <a:srgbClr val="272525"/>
                </a:solidFill>
                <a:latin typeface="Gelasio" pitchFamily="34" charset="0"/>
                <a:ea typeface="Gelasio" pitchFamily="34" charset="-122"/>
              </a:rPr>
              <a:t>Streamlined operation and </a:t>
            </a:r>
            <a:endParaRPr lang="en-US" sz="2185" b="1" dirty="0">
              <a:solidFill>
                <a:srgbClr val="272525"/>
              </a:solidFill>
              <a:latin typeface="Gelasio" pitchFamily="34" charset="0"/>
              <a:ea typeface="Gelasio" pitchFamily="34" charset="-122"/>
            </a:endParaRPr>
          </a:p>
          <a:p>
            <a:pPr algn="l">
              <a:lnSpc>
                <a:spcPts val="2735"/>
              </a:lnSpc>
            </a:pPr>
            <a:r>
              <a:rPr lang="en-US" sz="2185" b="1" dirty="0">
                <a:solidFill>
                  <a:srgbClr val="272525"/>
                </a:solidFill>
                <a:latin typeface="Gelasio" pitchFamily="34" charset="0"/>
                <a:ea typeface="Gelasio" pitchFamily="34" charset="-122"/>
              </a:rPr>
              <a:t>      cost efficiency </a:t>
            </a:r>
            <a:endParaRPr lang="en-US" sz="2185" b="1" dirty="0"/>
          </a:p>
        </p:txBody>
      </p:sp>
      <p:sp>
        <p:nvSpPr>
          <p:cNvPr id="10" name="Text 7"/>
          <p:cNvSpPr/>
          <p:nvPr/>
        </p:nvSpPr>
        <p:spPr>
          <a:xfrm>
            <a:off x="8537258" y="3284577"/>
            <a:ext cx="4055150" cy="1066205"/>
          </a:xfrm>
          <a:prstGeom prst="rect">
            <a:avLst/>
          </a:prstGeom>
          <a:noFill/>
        </p:spPr>
        <p:txBody>
          <a:bodyPr wrap="square" rtlCol="0" anchor="t"/>
          <a:lstStyle/>
          <a:p>
            <a:pPr marL="285750" indent="-285750" algn="l">
              <a:lnSpc>
                <a:spcPts val="2800"/>
              </a:lnSpc>
              <a:buFont typeface="Wingdings" panose="05000000000000000000" pitchFamily="2" charset="2"/>
              <a:buChar char="Ø"/>
            </a:pPr>
            <a:r>
              <a:rPr lang="en-US" sz="1750" dirty="0"/>
              <a:t>Integration across function </a:t>
            </a:r>
            <a:endParaRPr lang="en-US" sz="1750" dirty="0"/>
          </a:p>
          <a:p>
            <a:pPr marL="285750" indent="-285750" algn="l">
              <a:lnSpc>
                <a:spcPts val="2800"/>
              </a:lnSpc>
              <a:buFont typeface="Wingdings" panose="05000000000000000000" pitchFamily="2" charset="2"/>
              <a:buChar char="Ø"/>
            </a:pPr>
            <a:r>
              <a:rPr lang="en-US" sz="1750" dirty="0"/>
              <a:t>Real-time visibility</a:t>
            </a:r>
            <a:endParaRPr lang="en-US" sz="1750" dirty="0"/>
          </a:p>
        </p:txBody>
      </p:sp>
      <p:sp>
        <p:nvSpPr>
          <p:cNvPr id="11" name="Shape 8"/>
          <p:cNvSpPr/>
          <p:nvPr/>
        </p:nvSpPr>
        <p:spPr>
          <a:xfrm>
            <a:off x="6287631" y="4005203"/>
            <a:ext cx="777597" cy="44410"/>
          </a:xfrm>
          <a:prstGeom prst="rect">
            <a:avLst/>
          </a:prstGeom>
          <a:solidFill>
            <a:srgbClr val="D1D1C7"/>
          </a:solidFill>
        </p:spPr>
        <p:txBody>
          <a:bodyPr/>
          <a:lstStyle/>
          <a:p>
            <a:endParaRPr lang="en-IN"/>
          </a:p>
        </p:txBody>
      </p:sp>
      <p:sp>
        <p:nvSpPr>
          <p:cNvPr id="12" name="Shape 9"/>
          <p:cNvSpPr/>
          <p:nvPr/>
        </p:nvSpPr>
        <p:spPr>
          <a:xfrm>
            <a:off x="7065228" y="3777496"/>
            <a:ext cx="499943" cy="499943"/>
          </a:xfrm>
          <a:prstGeom prst="roundRect">
            <a:avLst>
              <a:gd name="adj" fmla="val 20000"/>
            </a:avLst>
          </a:prstGeom>
          <a:solidFill>
            <a:srgbClr val="E8E8E3"/>
          </a:solidFill>
          <a:ln w="13811">
            <a:solidFill>
              <a:srgbClr val="D1D1C7"/>
            </a:solidFill>
            <a:prstDash val="solid"/>
          </a:ln>
        </p:spPr>
        <p:txBody>
          <a:bodyPr/>
          <a:lstStyle/>
          <a:p>
            <a:endParaRPr lang="en-IN"/>
          </a:p>
        </p:txBody>
      </p:sp>
      <p:sp>
        <p:nvSpPr>
          <p:cNvPr id="13" name="Text 10"/>
          <p:cNvSpPr/>
          <p:nvPr/>
        </p:nvSpPr>
        <p:spPr>
          <a:xfrm>
            <a:off x="7219890" y="3819168"/>
            <a:ext cx="190500" cy="416481"/>
          </a:xfrm>
          <a:prstGeom prst="rect">
            <a:avLst/>
          </a:prstGeom>
          <a:noFill/>
        </p:spPr>
        <p:txBody>
          <a:bodyPr wrap="none" rtlCol="0" anchor="t"/>
          <a:lstStyle/>
          <a:p>
            <a:pPr marL="0" indent="0" algn="ctr">
              <a:lnSpc>
                <a:spcPts val="3280"/>
              </a:lnSpc>
              <a:buNone/>
            </a:pPr>
            <a:r>
              <a:rPr lang="en-US" sz="2625" dirty="0">
                <a:solidFill>
                  <a:srgbClr val="272525"/>
                </a:solidFill>
                <a:latin typeface="Gelasio" pitchFamily="34" charset="0"/>
                <a:ea typeface="Gelasio" pitchFamily="34" charset="-122"/>
                <a:cs typeface="Gelasio" pitchFamily="34" charset="-120"/>
              </a:rPr>
              <a:t>2</a:t>
            </a:r>
            <a:endParaRPr lang="en-US" sz="2625" dirty="0"/>
          </a:p>
        </p:txBody>
      </p:sp>
      <p:sp>
        <p:nvSpPr>
          <p:cNvPr id="14" name="Text 11"/>
          <p:cNvSpPr/>
          <p:nvPr/>
        </p:nvSpPr>
        <p:spPr>
          <a:xfrm>
            <a:off x="3871198" y="3826073"/>
            <a:ext cx="2221944" cy="347186"/>
          </a:xfrm>
          <a:prstGeom prst="rect">
            <a:avLst/>
          </a:prstGeom>
          <a:noFill/>
        </p:spPr>
        <p:txBody>
          <a:bodyPr wrap="none" rtlCol="0" anchor="t"/>
          <a:lstStyle/>
          <a:p>
            <a:pPr marL="342900" indent="-342900" algn="r">
              <a:lnSpc>
                <a:spcPts val="2735"/>
              </a:lnSpc>
              <a:buFont typeface="Arial" panose="020B0604020202020204" pitchFamily="34" charset="0"/>
              <a:buChar char="•"/>
            </a:pPr>
            <a:r>
              <a:rPr lang="en-US" sz="2185" b="1" dirty="0"/>
              <a:t>Adaptability and compliance</a:t>
            </a:r>
            <a:endParaRPr lang="en-US" sz="2185" b="1" dirty="0"/>
          </a:p>
        </p:txBody>
      </p:sp>
      <p:sp>
        <p:nvSpPr>
          <p:cNvPr id="15" name="Text 12"/>
          <p:cNvSpPr/>
          <p:nvPr/>
        </p:nvSpPr>
        <p:spPr>
          <a:xfrm>
            <a:off x="2037993" y="4395430"/>
            <a:ext cx="4055150" cy="1066205"/>
          </a:xfrm>
          <a:prstGeom prst="rect">
            <a:avLst/>
          </a:prstGeom>
          <a:noFill/>
        </p:spPr>
        <p:txBody>
          <a:bodyPr wrap="square" rtlCol="0" anchor="t"/>
          <a:lstStyle/>
          <a:p>
            <a:pPr marL="285750" indent="-285750" algn="r">
              <a:lnSpc>
                <a:spcPts val="2800"/>
              </a:lnSpc>
              <a:buFont typeface="Wingdings" panose="05000000000000000000" pitchFamily="2" charset="2"/>
              <a:buChar char="Ø"/>
            </a:pPr>
            <a:r>
              <a:rPr lang="en-US" sz="1800" dirty="0"/>
              <a:t>Adaptability to industry changes</a:t>
            </a:r>
            <a:endParaRPr lang="en-US" sz="1800" dirty="0"/>
          </a:p>
          <a:p>
            <a:pPr marL="285750" indent="-285750" algn="r">
              <a:lnSpc>
                <a:spcPts val="2800"/>
              </a:lnSpc>
              <a:buFont typeface="Wingdings" panose="05000000000000000000" pitchFamily="2" charset="2"/>
              <a:buChar char="Ø"/>
            </a:pPr>
            <a:r>
              <a:rPr lang="en-US" sz="1750" dirty="0">
                <a:solidFill>
                  <a:srgbClr val="272525"/>
                </a:solidFill>
                <a:latin typeface="Lato" pitchFamily="34" charset="0"/>
                <a:ea typeface="Lato" pitchFamily="34" charset="-122"/>
                <a:cs typeface="Lato" pitchFamily="34" charset="-120"/>
              </a:rPr>
              <a:t>Regulatory compliance </a:t>
            </a:r>
            <a:endParaRPr lang="en-US" sz="1750" dirty="0"/>
          </a:p>
        </p:txBody>
      </p:sp>
      <p:sp>
        <p:nvSpPr>
          <p:cNvPr id="16" name="Shape 13"/>
          <p:cNvSpPr/>
          <p:nvPr/>
        </p:nvSpPr>
        <p:spPr>
          <a:xfrm>
            <a:off x="7565172" y="5196423"/>
            <a:ext cx="777597" cy="44410"/>
          </a:xfrm>
          <a:prstGeom prst="rect">
            <a:avLst/>
          </a:prstGeom>
          <a:solidFill>
            <a:srgbClr val="D1D1C7"/>
          </a:solidFill>
        </p:spPr>
        <p:txBody>
          <a:bodyPr/>
          <a:lstStyle/>
          <a:p>
            <a:endParaRPr lang="en-IN"/>
          </a:p>
        </p:txBody>
      </p:sp>
      <p:sp>
        <p:nvSpPr>
          <p:cNvPr id="17" name="Shape 14"/>
          <p:cNvSpPr/>
          <p:nvPr/>
        </p:nvSpPr>
        <p:spPr>
          <a:xfrm>
            <a:off x="7065228" y="4968716"/>
            <a:ext cx="499943" cy="499943"/>
          </a:xfrm>
          <a:prstGeom prst="roundRect">
            <a:avLst>
              <a:gd name="adj" fmla="val 20000"/>
            </a:avLst>
          </a:prstGeom>
          <a:solidFill>
            <a:srgbClr val="E8E8E3"/>
          </a:solidFill>
          <a:ln w="13811">
            <a:solidFill>
              <a:srgbClr val="D1D1C7"/>
            </a:solidFill>
            <a:prstDash val="solid"/>
          </a:ln>
        </p:spPr>
        <p:txBody>
          <a:bodyPr/>
          <a:lstStyle/>
          <a:p>
            <a:endParaRPr lang="en-IN"/>
          </a:p>
        </p:txBody>
      </p:sp>
      <p:sp>
        <p:nvSpPr>
          <p:cNvPr id="18" name="Text 15"/>
          <p:cNvSpPr/>
          <p:nvPr/>
        </p:nvSpPr>
        <p:spPr>
          <a:xfrm>
            <a:off x="7223700" y="5010388"/>
            <a:ext cx="182880" cy="416481"/>
          </a:xfrm>
          <a:prstGeom prst="rect">
            <a:avLst/>
          </a:prstGeom>
          <a:noFill/>
        </p:spPr>
        <p:txBody>
          <a:bodyPr wrap="none" rtlCol="0" anchor="t"/>
          <a:lstStyle/>
          <a:p>
            <a:pPr marL="0" indent="0" algn="ctr">
              <a:lnSpc>
                <a:spcPts val="3280"/>
              </a:lnSpc>
              <a:buNone/>
            </a:pPr>
            <a:r>
              <a:rPr lang="en-US" sz="2625" dirty="0">
                <a:solidFill>
                  <a:srgbClr val="272525"/>
                </a:solidFill>
                <a:latin typeface="Gelasio" pitchFamily="34" charset="0"/>
                <a:ea typeface="Gelasio" pitchFamily="34" charset="-122"/>
                <a:cs typeface="Gelasio" pitchFamily="34" charset="-120"/>
              </a:rPr>
              <a:t>3</a:t>
            </a:r>
            <a:endParaRPr lang="en-US" sz="2625" dirty="0"/>
          </a:p>
        </p:txBody>
      </p:sp>
      <p:sp>
        <p:nvSpPr>
          <p:cNvPr id="19" name="Text 16"/>
          <p:cNvSpPr/>
          <p:nvPr/>
        </p:nvSpPr>
        <p:spPr>
          <a:xfrm>
            <a:off x="8537258" y="5017294"/>
            <a:ext cx="2221944" cy="347186"/>
          </a:xfrm>
          <a:prstGeom prst="rect">
            <a:avLst/>
          </a:prstGeom>
          <a:noFill/>
        </p:spPr>
        <p:txBody>
          <a:bodyPr wrap="none" rtlCol="0" anchor="t"/>
          <a:lstStyle/>
          <a:p>
            <a:pPr marL="342900" indent="-342900" algn="l">
              <a:lnSpc>
                <a:spcPts val="2735"/>
              </a:lnSpc>
              <a:buFont typeface="Arial" panose="020B0604020202020204" pitchFamily="34" charset="0"/>
              <a:buChar char="•"/>
            </a:pPr>
            <a:r>
              <a:rPr lang="en-US" sz="2185" b="1" dirty="0">
                <a:solidFill>
                  <a:srgbClr val="272525"/>
                </a:solidFill>
                <a:latin typeface="Gelasio" pitchFamily="34" charset="0"/>
                <a:ea typeface="Gelasio" pitchFamily="34" charset="-122"/>
              </a:rPr>
              <a:t>Enhanced customer Satisfaction</a:t>
            </a:r>
            <a:endParaRPr lang="en-US" sz="2185" b="1" dirty="0"/>
          </a:p>
        </p:txBody>
      </p:sp>
      <p:sp>
        <p:nvSpPr>
          <p:cNvPr id="20" name="Text 17"/>
          <p:cNvSpPr/>
          <p:nvPr/>
        </p:nvSpPr>
        <p:spPr>
          <a:xfrm>
            <a:off x="8537258" y="5586651"/>
            <a:ext cx="4055150" cy="1066205"/>
          </a:xfrm>
          <a:prstGeom prst="rect">
            <a:avLst/>
          </a:prstGeom>
          <a:noFill/>
        </p:spPr>
        <p:txBody>
          <a:bodyPr wrap="square" rtlCol="0" anchor="t"/>
          <a:lstStyle/>
          <a:p>
            <a:pPr marL="285750" indent="-285750" algn="l">
              <a:lnSpc>
                <a:spcPts val="2800"/>
              </a:lnSpc>
              <a:buFont typeface="Wingdings" panose="05000000000000000000" pitchFamily="2" charset="2"/>
              <a:buChar char="Ø"/>
            </a:pPr>
            <a:r>
              <a:rPr lang="en-US" sz="1750" dirty="0"/>
              <a:t>Faster Response times</a:t>
            </a:r>
            <a:endParaRPr lang="en-US" sz="1750" dirty="0"/>
          </a:p>
          <a:p>
            <a:pPr marL="285750" indent="-285750" algn="l">
              <a:lnSpc>
                <a:spcPts val="2800"/>
              </a:lnSpc>
              <a:buFont typeface="Wingdings" panose="05000000000000000000" pitchFamily="2" charset="2"/>
              <a:buChar char="Ø"/>
            </a:pPr>
            <a:r>
              <a:rPr lang="en-US" sz="1750" dirty="0"/>
              <a:t>Quality management </a:t>
            </a:r>
            <a:endParaRPr lang="en-US" sz="1750" dirty="0"/>
          </a:p>
        </p:txBody>
      </p:sp>
      <p:pic>
        <p:nvPicPr>
          <p:cNvPr id="22" name="3D Model 21"/>
          <p:cNvPicPr>
            <a:picLocks noGrp="1" noRot="1" noChangeAspect="1" noMove="1" noResize="1" noEditPoints="1" noAdjustHandles="1" noChangeArrowheads="1" noChangeShapeType="1" noCrop="1"/>
          </p:cNvPicPr>
          <p:nvPr/>
        </p:nvPicPr>
        <p:blipFill>
          <a:blip r:embed="rId2"/>
          <a:stretch>
            <a:fillRect/>
          </a:stretch>
        </p:blipFill>
        <p:spPr>
          <a:xfrm>
            <a:off x="12497181" y="1576744"/>
            <a:ext cx="2332805" cy="19780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heel(1)">
                                      <p:cBhvr>
                                        <p:cTn id="17" dur="20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heel(1)">
                                      <p:cBhvr>
                                        <p:cTn id="22"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4"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2147" y="0"/>
            <a:ext cx="14630400" cy="8230910"/>
          </a:xfrm>
          <a:prstGeom prst="rect">
            <a:avLst/>
          </a:prstGeom>
          <a:solidFill>
            <a:srgbClr val="FFFFFF">
              <a:alpha val="75000"/>
            </a:srgbClr>
          </a:solidFill>
          <a:ln w="10954">
            <a:solidFill>
              <a:srgbClr val="FFFFFF">
                <a:alpha val="64000"/>
              </a:srgbClr>
            </a:solidFill>
            <a:prstDash val="solid"/>
          </a:ln>
        </p:spPr>
        <p:txBody>
          <a:bodyPr/>
          <a:lstStyle/>
          <a:p>
            <a:endParaRPr lang="en-IN" dirty="0"/>
          </a:p>
        </p:txBody>
      </p:sp>
      <p:grpSp>
        <p:nvGrpSpPr>
          <p:cNvPr id="32" name="Group 31"/>
          <p:cNvGrpSpPr/>
          <p:nvPr/>
        </p:nvGrpSpPr>
        <p:grpSpPr>
          <a:xfrm>
            <a:off x="3025509" y="326458"/>
            <a:ext cx="3213951" cy="7684280"/>
            <a:chOff x="11510176" y="272006"/>
            <a:chExt cx="3213951" cy="7684280"/>
          </a:xfrm>
        </p:grpSpPr>
        <p:sp>
          <p:nvSpPr>
            <p:cNvPr id="23" name="Rectangle 22"/>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26" name="TextBox 25"/>
            <p:cNvSpPr txBox="1"/>
            <p:nvPr/>
          </p:nvSpPr>
          <p:spPr>
            <a:xfrm>
              <a:off x="12559661" y="649121"/>
              <a:ext cx="2164466" cy="1569660"/>
            </a:xfrm>
            <a:prstGeom prst="rect">
              <a:avLst/>
            </a:prstGeom>
            <a:noFill/>
          </p:spPr>
          <p:txBody>
            <a:bodyPr wrap="square" rtlCol="0">
              <a:spAutoFit/>
            </a:bodyPr>
            <a:lstStyle/>
            <a:p>
              <a:r>
                <a:rPr lang="en-US" sz="9600" dirty="0"/>
                <a:t>4</a:t>
              </a:r>
              <a:endParaRPr lang="en-IN" sz="9600" dirty="0"/>
            </a:p>
          </p:txBody>
        </p:sp>
        <p:sp>
          <p:nvSpPr>
            <p:cNvPr id="28" name="TextBox 27"/>
            <p:cNvSpPr txBox="1"/>
            <p:nvPr/>
          </p:nvSpPr>
          <p:spPr>
            <a:xfrm>
              <a:off x="11844697" y="2304641"/>
              <a:ext cx="2650601" cy="1569660"/>
            </a:xfrm>
            <a:prstGeom prst="rect">
              <a:avLst/>
            </a:prstGeom>
            <a:noFill/>
          </p:spPr>
          <p:txBody>
            <a:bodyPr wrap="square" rtlCol="0">
              <a:spAutoFit/>
            </a:bodyPr>
            <a:lstStyle/>
            <a:p>
              <a:r>
                <a:rPr lang="en-US" sz="2400" b="1" dirty="0">
                  <a:solidFill>
                    <a:srgbClr val="272525"/>
                  </a:solidFill>
                  <a:latin typeface="Gelasio" pitchFamily="34" charset="0"/>
                  <a:ea typeface="Gelasio" pitchFamily="34" charset="-122"/>
                  <a:cs typeface="Gelasio" pitchFamily="34" charset="-120"/>
                </a:rPr>
                <a:t>Application Development &amp; Maintenance</a:t>
              </a:r>
              <a:endParaRPr lang="en-US" sz="2400" b="1" dirty="0"/>
            </a:p>
            <a:p>
              <a:endParaRPr lang="en-IN" sz="2400" b="1" dirty="0"/>
            </a:p>
          </p:txBody>
        </p:sp>
        <p:sp>
          <p:nvSpPr>
            <p:cNvPr id="31" name="TextBox 30"/>
            <p:cNvSpPr txBox="1"/>
            <p:nvPr/>
          </p:nvSpPr>
          <p:spPr>
            <a:xfrm>
              <a:off x="11808930" y="4147615"/>
              <a:ext cx="2650601" cy="2626360"/>
            </a:xfrm>
            <a:prstGeom prst="rect">
              <a:avLst/>
            </a:prstGeom>
            <a:noFill/>
          </p:spPr>
          <p:txBody>
            <a:bodyPr wrap="square" rtlCol="0">
              <a:spAutoFit/>
            </a:bodyPr>
            <a:lstStyle/>
            <a:p>
              <a:r>
                <a:rPr lang="en-US" sz="1800" dirty="0">
                  <a:solidFill>
                    <a:srgbClr val="272525"/>
                  </a:solidFill>
                  <a:latin typeface="Lato" pitchFamily="34" charset="0"/>
                  <a:ea typeface="Lato" pitchFamily="34" charset="-122"/>
                  <a:cs typeface="Lato" pitchFamily="34" charset="-120"/>
                </a:rPr>
                <a:t>Bringing in diverse expertise in organizational, technological, and process operations to develop and maintain mission-critical applications</a:t>
              </a:r>
              <a:endParaRPr lang="en-US" sz="1800" dirty="0"/>
            </a:p>
            <a:p>
              <a:endParaRPr lang="en-IN" dirty="0"/>
            </a:p>
          </p:txBody>
        </p:sp>
      </p:grpSp>
      <p:grpSp>
        <p:nvGrpSpPr>
          <p:cNvPr id="33" name="Group 32"/>
          <p:cNvGrpSpPr/>
          <p:nvPr/>
        </p:nvGrpSpPr>
        <p:grpSpPr>
          <a:xfrm>
            <a:off x="2729468" y="303748"/>
            <a:ext cx="3213951" cy="7684280"/>
            <a:chOff x="11510176" y="272006"/>
            <a:chExt cx="3213951" cy="7684280"/>
          </a:xfrm>
        </p:grpSpPr>
        <p:sp>
          <p:nvSpPr>
            <p:cNvPr id="34" name="Rectangle 33"/>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35" name="TextBox 34"/>
            <p:cNvSpPr txBox="1"/>
            <p:nvPr/>
          </p:nvSpPr>
          <p:spPr>
            <a:xfrm>
              <a:off x="12559661" y="649121"/>
              <a:ext cx="2164466" cy="1569660"/>
            </a:xfrm>
            <a:prstGeom prst="rect">
              <a:avLst/>
            </a:prstGeom>
            <a:noFill/>
          </p:spPr>
          <p:txBody>
            <a:bodyPr wrap="square" rtlCol="0">
              <a:spAutoFit/>
            </a:bodyPr>
            <a:lstStyle/>
            <a:p>
              <a:r>
                <a:rPr lang="en-US" sz="9600" dirty="0"/>
                <a:t>3</a:t>
              </a:r>
              <a:endParaRPr lang="en-IN" sz="9600" dirty="0"/>
            </a:p>
          </p:txBody>
        </p:sp>
        <p:sp>
          <p:nvSpPr>
            <p:cNvPr id="36" name="TextBox 35"/>
            <p:cNvSpPr txBox="1"/>
            <p:nvPr/>
          </p:nvSpPr>
          <p:spPr>
            <a:xfrm>
              <a:off x="11844697" y="2304641"/>
              <a:ext cx="2650601" cy="1200329"/>
            </a:xfrm>
            <a:prstGeom prst="rect">
              <a:avLst/>
            </a:prstGeom>
            <a:noFill/>
          </p:spPr>
          <p:txBody>
            <a:bodyPr wrap="square" rtlCol="0">
              <a:spAutoFit/>
            </a:bodyPr>
            <a:lstStyle/>
            <a:p>
              <a:r>
                <a:rPr lang="en-US" sz="2400" b="1" dirty="0">
                  <a:solidFill>
                    <a:srgbClr val="272525"/>
                  </a:solidFill>
                  <a:latin typeface="Gelasio" pitchFamily="34" charset="0"/>
                  <a:ea typeface="Gelasio" pitchFamily="34" charset="-122"/>
                  <a:cs typeface="Gelasio" pitchFamily="34" charset="-120"/>
                </a:rPr>
                <a:t>Product Development &amp; Engineering</a:t>
              </a:r>
              <a:endParaRPr lang="en-US" sz="2400" b="1" dirty="0">
                <a:solidFill>
                  <a:srgbClr val="272525"/>
                </a:solidFill>
                <a:latin typeface="Gelasio" pitchFamily="34" charset="0"/>
                <a:ea typeface="Gelasio" pitchFamily="34" charset="-122"/>
                <a:cs typeface="Gelasio" pitchFamily="34" charset="-120"/>
              </a:endParaRPr>
            </a:p>
          </p:txBody>
        </p:sp>
        <p:sp>
          <p:nvSpPr>
            <p:cNvPr id="37" name="TextBox 36"/>
            <p:cNvSpPr txBox="1"/>
            <p:nvPr/>
          </p:nvSpPr>
          <p:spPr>
            <a:xfrm>
              <a:off x="11808930" y="4147615"/>
              <a:ext cx="2650601" cy="2308324"/>
            </a:xfrm>
            <a:prstGeom prst="rect">
              <a:avLst/>
            </a:prstGeom>
            <a:noFill/>
          </p:spPr>
          <p:txBody>
            <a:bodyPr wrap="square" rtlCol="0">
              <a:spAutoFit/>
            </a:bodyPr>
            <a:lstStyle/>
            <a:p>
              <a:r>
                <a:rPr lang="en-US" sz="1800" dirty="0">
                  <a:solidFill>
                    <a:srgbClr val="272525"/>
                  </a:solidFill>
                  <a:latin typeface="Lato" pitchFamily="34" charset="0"/>
                  <a:ea typeface="Lato" pitchFamily="34" charset="-122"/>
                  <a:cs typeface="Lato" pitchFamily="34" charset="-120"/>
                </a:rPr>
                <a:t>Drive innovation - from idea to market-ready product - with the help of cutting-edge technology and engineering practices, fueled by our partner ecosystem</a:t>
              </a:r>
              <a:endParaRPr lang="en-US" sz="1800" dirty="0">
                <a:solidFill>
                  <a:srgbClr val="272525"/>
                </a:solidFill>
                <a:latin typeface="Lato" pitchFamily="34" charset="0"/>
                <a:ea typeface="Lato" pitchFamily="34" charset="-122"/>
                <a:cs typeface="Lato" pitchFamily="34" charset="-120"/>
              </a:endParaRPr>
            </a:p>
          </p:txBody>
        </p:sp>
      </p:grpSp>
      <p:grpSp>
        <p:nvGrpSpPr>
          <p:cNvPr id="45" name="Group 44"/>
          <p:cNvGrpSpPr/>
          <p:nvPr/>
        </p:nvGrpSpPr>
        <p:grpSpPr>
          <a:xfrm>
            <a:off x="2958297" y="349168"/>
            <a:ext cx="3213951" cy="7684280"/>
            <a:chOff x="11510176" y="272006"/>
            <a:chExt cx="3213951" cy="7684280"/>
          </a:xfrm>
        </p:grpSpPr>
        <p:sp>
          <p:nvSpPr>
            <p:cNvPr id="46" name="Rectangle 45"/>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47" name="TextBox 46"/>
            <p:cNvSpPr txBox="1"/>
            <p:nvPr/>
          </p:nvSpPr>
          <p:spPr>
            <a:xfrm>
              <a:off x="12559661" y="649121"/>
              <a:ext cx="2164466" cy="1569660"/>
            </a:xfrm>
            <a:prstGeom prst="rect">
              <a:avLst/>
            </a:prstGeom>
            <a:noFill/>
          </p:spPr>
          <p:txBody>
            <a:bodyPr wrap="square" rtlCol="0">
              <a:spAutoFit/>
            </a:bodyPr>
            <a:lstStyle/>
            <a:p>
              <a:r>
                <a:rPr lang="en-US" sz="9600" dirty="0"/>
                <a:t>2</a:t>
              </a:r>
              <a:endParaRPr lang="en-IN" sz="9600" dirty="0"/>
            </a:p>
          </p:txBody>
        </p:sp>
        <p:sp>
          <p:nvSpPr>
            <p:cNvPr id="48" name="TextBox 47"/>
            <p:cNvSpPr txBox="1"/>
            <p:nvPr/>
          </p:nvSpPr>
          <p:spPr>
            <a:xfrm>
              <a:off x="11844697" y="2605930"/>
              <a:ext cx="2650601" cy="461665"/>
            </a:xfrm>
            <a:prstGeom prst="rect">
              <a:avLst/>
            </a:prstGeom>
            <a:noFill/>
          </p:spPr>
          <p:txBody>
            <a:bodyPr wrap="square" rtlCol="0">
              <a:spAutoFit/>
            </a:bodyPr>
            <a:lstStyle/>
            <a:p>
              <a:r>
                <a:rPr lang="en-US" sz="2400" b="1" dirty="0">
                  <a:solidFill>
                    <a:srgbClr val="272525"/>
                  </a:solidFill>
                  <a:latin typeface="Gelasio" pitchFamily="34" charset="0"/>
                  <a:ea typeface="Gelasio" pitchFamily="34" charset="-122"/>
                  <a:cs typeface="Gelasio" pitchFamily="34" charset="-120"/>
                </a:rPr>
                <a:t>Localization</a:t>
              </a:r>
              <a:endParaRPr lang="en-US" sz="2400" b="1" dirty="0">
                <a:solidFill>
                  <a:srgbClr val="272525"/>
                </a:solidFill>
                <a:latin typeface="Gelasio" pitchFamily="34" charset="0"/>
                <a:ea typeface="Gelasio" pitchFamily="34" charset="-122"/>
                <a:cs typeface="Gelasio" pitchFamily="34" charset="-120"/>
              </a:endParaRPr>
            </a:p>
          </p:txBody>
        </p:sp>
        <p:sp>
          <p:nvSpPr>
            <p:cNvPr id="49" name="TextBox 48"/>
            <p:cNvSpPr txBox="1"/>
            <p:nvPr/>
          </p:nvSpPr>
          <p:spPr>
            <a:xfrm>
              <a:off x="11808930" y="4147615"/>
              <a:ext cx="2650601" cy="2031325"/>
            </a:xfrm>
            <a:prstGeom prst="rect">
              <a:avLst/>
            </a:prstGeom>
            <a:noFill/>
          </p:spPr>
          <p:txBody>
            <a:bodyPr wrap="square" rtlCol="0">
              <a:spAutoFit/>
            </a:bodyPr>
            <a:lstStyle/>
            <a:p>
              <a:r>
                <a:rPr lang="en-US" sz="1800" dirty="0">
                  <a:solidFill>
                    <a:srgbClr val="272525"/>
                  </a:solidFill>
                  <a:latin typeface="Lato" pitchFamily="34" charset="0"/>
                  <a:ea typeface="Lato" pitchFamily="34" charset="-122"/>
                  <a:cs typeface="Lato" pitchFamily="34" charset="-120"/>
                </a:rPr>
                <a:t>Deliver software products that meet global regulatory requirements, linguistic preferences, and cultural nuances in your local markets.</a:t>
              </a:r>
              <a:endParaRPr lang="en-US" sz="1800" dirty="0">
                <a:solidFill>
                  <a:srgbClr val="272525"/>
                </a:solidFill>
                <a:latin typeface="Lato" pitchFamily="34" charset="0"/>
                <a:ea typeface="Lato" pitchFamily="34" charset="-122"/>
                <a:cs typeface="Lato" pitchFamily="34" charset="-120"/>
              </a:endParaRPr>
            </a:p>
          </p:txBody>
        </p:sp>
      </p:grpSp>
      <p:grpSp>
        <p:nvGrpSpPr>
          <p:cNvPr id="50" name="Group 49"/>
          <p:cNvGrpSpPr/>
          <p:nvPr/>
        </p:nvGrpSpPr>
        <p:grpSpPr>
          <a:xfrm>
            <a:off x="3042093" y="327292"/>
            <a:ext cx="2932771" cy="7684280"/>
            <a:chOff x="11510176" y="272006"/>
            <a:chExt cx="2932771" cy="7684280"/>
          </a:xfrm>
        </p:grpSpPr>
        <p:sp>
          <p:nvSpPr>
            <p:cNvPr id="51" name="Rectangle 50"/>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52" name="TextBox 51"/>
            <p:cNvSpPr txBox="1"/>
            <p:nvPr/>
          </p:nvSpPr>
          <p:spPr>
            <a:xfrm>
              <a:off x="12375630" y="303492"/>
              <a:ext cx="998990" cy="1569660"/>
            </a:xfrm>
            <a:prstGeom prst="rect">
              <a:avLst/>
            </a:prstGeom>
            <a:noFill/>
          </p:spPr>
          <p:txBody>
            <a:bodyPr wrap="square" rtlCol="0">
              <a:spAutoFit/>
            </a:bodyPr>
            <a:lstStyle/>
            <a:p>
              <a:r>
                <a:rPr lang="en-US" sz="9600" dirty="0"/>
                <a:t>1</a:t>
              </a:r>
              <a:endParaRPr lang="en-IN" sz="9600" dirty="0"/>
            </a:p>
          </p:txBody>
        </p:sp>
        <p:sp>
          <p:nvSpPr>
            <p:cNvPr id="53" name="TextBox 52"/>
            <p:cNvSpPr txBox="1"/>
            <p:nvPr/>
          </p:nvSpPr>
          <p:spPr>
            <a:xfrm>
              <a:off x="11699519" y="1748647"/>
              <a:ext cx="2650601" cy="1131079"/>
            </a:xfrm>
            <a:prstGeom prst="rect">
              <a:avLst/>
            </a:prstGeom>
            <a:noFill/>
          </p:spPr>
          <p:txBody>
            <a:bodyPr wrap="square" rtlCol="0">
              <a:spAutoFit/>
            </a:bodyPr>
            <a:lstStyle/>
            <a:p>
              <a:pPr marL="342900" indent="-342900" algn="just">
                <a:lnSpc>
                  <a:spcPts val="2735"/>
                </a:lnSpc>
                <a:buFont typeface="Arial" panose="020B0604020202020204" pitchFamily="34" charset="0"/>
                <a:buChar char="•"/>
              </a:pPr>
              <a:r>
                <a:rPr lang="en-US" sz="2000" b="1" dirty="0">
                  <a:solidFill>
                    <a:srgbClr val="272525"/>
                  </a:solidFill>
                  <a:latin typeface="Gelasio" pitchFamily="34" charset="0"/>
                  <a:ea typeface="Gelasio" pitchFamily="34" charset="-122"/>
                </a:rPr>
                <a:t>Streamlined operation and </a:t>
              </a:r>
              <a:endParaRPr lang="en-US" sz="2000" b="1" dirty="0">
                <a:solidFill>
                  <a:srgbClr val="272525"/>
                </a:solidFill>
                <a:latin typeface="Gelasio" pitchFamily="34" charset="0"/>
                <a:ea typeface="Gelasio" pitchFamily="34" charset="-122"/>
              </a:endParaRPr>
            </a:p>
            <a:p>
              <a:pPr algn="just">
                <a:lnSpc>
                  <a:spcPts val="2735"/>
                </a:lnSpc>
              </a:pPr>
              <a:r>
                <a:rPr lang="en-US" sz="2000" b="1" dirty="0">
                  <a:solidFill>
                    <a:srgbClr val="272525"/>
                  </a:solidFill>
                  <a:latin typeface="Gelasio" pitchFamily="34" charset="0"/>
                  <a:ea typeface="Gelasio" pitchFamily="34" charset="-122"/>
                </a:rPr>
                <a:t>     cost efficiency </a:t>
              </a:r>
              <a:endParaRPr lang="en-US" sz="2000" b="1" dirty="0"/>
            </a:p>
          </p:txBody>
        </p:sp>
        <p:sp>
          <p:nvSpPr>
            <p:cNvPr id="54" name="TextBox 53"/>
            <p:cNvSpPr txBox="1"/>
            <p:nvPr/>
          </p:nvSpPr>
          <p:spPr>
            <a:xfrm>
              <a:off x="11676816" y="2996222"/>
              <a:ext cx="2650601" cy="4589974"/>
            </a:xfrm>
            <a:prstGeom prst="rect">
              <a:avLst/>
            </a:prstGeom>
            <a:noFill/>
          </p:spPr>
          <p:txBody>
            <a:bodyPr wrap="square" rtlCol="0">
              <a:spAutoFit/>
            </a:bodyPr>
            <a:lstStyle/>
            <a:p>
              <a:pPr marL="0" indent="0">
                <a:lnSpc>
                  <a:spcPts val="2210"/>
                </a:lnSpc>
                <a:buNone/>
              </a:pPr>
              <a:r>
                <a:rPr lang="en-US" sz="1600" b="1" dirty="0">
                  <a:solidFill>
                    <a:srgbClr val="272525"/>
                  </a:solidFill>
                  <a:latin typeface="Lato" pitchFamily="34" charset="0"/>
                  <a:ea typeface="Lato" pitchFamily="34" charset="-122"/>
                  <a:cs typeface="Lato" pitchFamily="34" charset="-120"/>
                </a:rPr>
                <a:t>Integration Across Functions: </a:t>
              </a:r>
              <a:r>
                <a:rPr lang="en-US" sz="1600" dirty="0">
                  <a:solidFill>
                    <a:srgbClr val="272525"/>
                  </a:solidFill>
                  <a:latin typeface="Lato" pitchFamily="34" charset="0"/>
                  <a:ea typeface="Lato" pitchFamily="34" charset="-122"/>
                  <a:cs typeface="Lato" pitchFamily="34" charset="-120"/>
                </a:rPr>
                <a:t>SAP tools enable seamless integration of various business functions such as finance, procurement, manufacturing, and supply chain.</a:t>
              </a:r>
              <a:endParaRPr lang="en-US" sz="1600" dirty="0">
                <a:solidFill>
                  <a:srgbClr val="272525"/>
                </a:solidFill>
                <a:latin typeface="Lato" pitchFamily="34" charset="0"/>
                <a:ea typeface="Lato" pitchFamily="34" charset="-122"/>
                <a:cs typeface="Lato" pitchFamily="34" charset="-120"/>
              </a:endParaRPr>
            </a:p>
            <a:p>
              <a:pPr marL="0" indent="0">
                <a:lnSpc>
                  <a:spcPts val="2210"/>
                </a:lnSpc>
                <a:buNone/>
              </a:pPr>
              <a:r>
                <a:rPr lang="en-US" b="1" dirty="0"/>
                <a:t>Real-time </a:t>
              </a:r>
              <a:r>
                <a:rPr lang="en-US" b="1" dirty="0" err="1"/>
                <a:t>Visibility:</a:t>
              </a:r>
              <a:r>
                <a:rPr lang="en-US" sz="1600" dirty="0" err="1"/>
                <a:t>the</a:t>
              </a:r>
              <a:r>
                <a:rPr lang="en-US" sz="1600" dirty="0"/>
                <a:t> automobile industry, having up-to-date information is crucial for decision-making. Real-time data helps in identifying bottlenecks, optimizing inventory levels, and making informed decisions to reduce costs.</a:t>
              </a:r>
              <a:endParaRPr lang="en-US" sz="1600" dirty="0"/>
            </a:p>
          </p:txBody>
        </p:sp>
      </p:grpSp>
      <p:grpSp>
        <p:nvGrpSpPr>
          <p:cNvPr id="55" name="Group 54"/>
          <p:cNvGrpSpPr/>
          <p:nvPr/>
        </p:nvGrpSpPr>
        <p:grpSpPr>
          <a:xfrm>
            <a:off x="91843" y="200722"/>
            <a:ext cx="3222774" cy="7909947"/>
            <a:chOff x="11510176" y="46339"/>
            <a:chExt cx="3213951" cy="7909947"/>
          </a:xfrm>
        </p:grpSpPr>
        <p:sp>
          <p:nvSpPr>
            <p:cNvPr id="56" name="Rectangle 55"/>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57" name="TextBox 56"/>
            <p:cNvSpPr txBox="1"/>
            <p:nvPr/>
          </p:nvSpPr>
          <p:spPr>
            <a:xfrm>
              <a:off x="12559661" y="649121"/>
              <a:ext cx="2164466" cy="1569660"/>
            </a:xfrm>
            <a:prstGeom prst="rect">
              <a:avLst/>
            </a:prstGeom>
            <a:noFill/>
          </p:spPr>
          <p:txBody>
            <a:bodyPr wrap="square" rtlCol="0">
              <a:spAutoFit/>
            </a:bodyPr>
            <a:lstStyle/>
            <a:p>
              <a:endParaRPr lang="en-IN" sz="9600" dirty="0"/>
            </a:p>
          </p:txBody>
        </p:sp>
        <p:sp>
          <p:nvSpPr>
            <p:cNvPr id="58" name="TextBox 57"/>
            <p:cNvSpPr txBox="1"/>
            <p:nvPr/>
          </p:nvSpPr>
          <p:spPr>
            <a:xfrm rot="16200000">
              <a:off x="9560501" y="2921429"/>
              <a:ext cx="6477869" cy="727689"/>
            </a:xfrm>
            <a:prstGeom prst="rect">
              <a:avLst/>
            </a:prstGeom>
            <a:noFill/>
          </p:spPr>
          <p:txBody>
            <a:bodyPr wrap="square" rtlCol="0">
              <a:spAutoFit/>
            </a:bodyPr>
            <a:lstStyle/>
            <a:p>
              <a:pPr marL="571500" indent="-571500" algn="ctr">
                <a:lnSpc>
                  <a:spcPts val="5470"/>
                </a:lnSpc>
                <a:buFont typeface="Wingdings" panose="05000000000000000000" pitchFamily="2" charset="2"/>
                <a:buChar char="v"/>
              </a:pPr>
              <a:r>
                <a:rPr lang="en-US" sz="3200" b="1" dirty="0">
                  <a:solidFill>
                    <a:srgbClr val="312F2B"/>
                  </a:solidFill>
                  <a:latin typeface="Gelasio" pitchFamily="34" charset="0"/>
                  <a:ea typeface="Gelasio" pitchFamily="34" charset="-122"/>
                  <a:cs typeface="Gelasio" pitchFamily="34" charset="-120"/>
                </a:rPr>
                <a:t>Importance of Efficient Processes</a:t>
              </a:r>
              <a:endParaRPr lang="en-US" sz="3200" b="1" dirty="0"/>
            </a:p>
          </p:txBody>
        </p:sp>
        <p:sp>
          <p:nvSpPr>
            <p:cNvPr id="59" name="TextBox 58"/>
            <p:cNvSpPr txBox="1"/>
            <p:nvPr/>
          </p:nvSpPr>
          <p:spPr>
            <a:xfrm>
              <a:off x="11808930" y="4147615"/>
              <a:ext cx="2650601" cy="364843"/>
            </a:xfrm>
            <a:prstGeom prst="rect">
              <a:avLst/>
            </a:prstGeom>
            <a:noFill/>
          </p:spPr>
          <p:txBody>
            <a:bodyPr wrap="square" rtlCol="0">
              <a:spAutoFit/>
            </a:bodyPr>
            <a:lstStyle/>
            <a:p>
              <a:pPr marL="0" indent="0">
                <a:lnSpc>
                  <a:spcPts val="2210"/>
                </a:lnSpc>
                <a:buNone/>
              </a:pPr>
              <a:endParaRPr lang="en-US" sz="1800" dirty="0"/>
            </a:p>
          </p:txBody>
        </p:sp>
      </p:grpSp>
      <p:pic>
        <p:nvPicPr>
          <p:cNvPr id="4" name="3D Model 3"/>
          <p:cNvPicPr>
            <a:picLocks noGrp="1" noRot="1" noChangeAspect="1" noMove="1" noResize="1" noEditPoints="1" noAdjustHandles="1" noChangeArrowheads="1" noChangeShapeType="1" noCrop="1"/>
          </p:cNvPicPr>
          <p:nvPr/>
        </p:nvPicPr>
        <p:blipFill>
          <a:blip r:embed="rId2"/>
          <a:stretch>
            <a:fillRect/>
          </a:stretch>
        </p:blipFill>
        <p:spPr>
          <a:xfrm>
            <a:off x="-98891" y="6678590"/>
            <a:ext cx="2302605" cy="1438027"/>
          </a:xfrm>
          <a:prstGeom prst="rect">
            <a:avLst/>
          </a:prstGeom>
        </p:spPr>
      </p:pic>
      <p:pic>
        <p:nvPicPr>
          <p:cNvPr id="5" name="Image 0"/>
          <p:cNvPicPr>
            <a:picLocks noChangeAspect="1"/>
          </p:cNvPicPr>
          <p:nvPr/>
        </p:nvPicPr>
        <p:blipFill>
          <a:blip r:embed="rId3"/>
          <a:stretch>
            <a:fillRect/>
          </a:stretch>
        </p:blipFill>
        <p:spPr>
          <a:xfrm>
            <a:off x="9282815" y="2683092"/>
            <a:ext cx="3295888" cy="203692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2147" y="0"/>
            <a:ext cx="14630400" cy="8230910"/>
          </a:xfrm>
          <a:prstGeom prst="rect">
            <a:avLst/>
          </a:prstGeom>
          <a:solidFill>
            <a:srgbClr val="FFFFFF">
              <a:alpha val="75000"/>
            </a:srgbClr>
          </a:solidFill>
          <a:ln w="10954">
            <a:solidFill>
              <a:srgbClr val="FFFFFF">
                <a:alpha val="64000"/>
              </a:srgbClr>
            </a:solidFill>
            <a:prstDash val="solid"/>
          </a:ln>
        </p:spPr>
        <p:txBody>
          <a:bodyPr/>
          <a:lstStyle/>
          <a:p>
            <a:endParaRPr lang="en-IN"/>
          </a:p>
        </p:txBody>
      </p:sp>
      <p:grpSp>
        <p:nvGrpSpPr>
          <p:cNvPr id="32" name="Group 31"/>
          <p:cNvGrpSpPr/>
          <p:nvPr/>
        </p:nvGrpSpPr>
        <p:grpSpPr>
          <a:xfrm>
            <a:off x="5753931" y="280203"/>
            <a:ext cx="3213951" cy="7684280"/>
            <a:chOff x="11510176" y="272006"/>
            <a:chExt cx="3213951" cy="7684280"/>
          </a:xfrm>
        </p:grpSpPr>
        <p:sp>
          <p:nvSpPr>
            <p:cNvPr id="23" name="Rectangle 22"/>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26" name="TextBox 25"/>
            <p:cNvSpPr txBox="1"/>
            <p:nvPr/>
          </p:nvSpPr>
          <p:spPr>
            <a:xfrm>
              <a:off x="12559661" y="649121"/>
              <a:ext cx="2164466" cy="1569660"/>
            </a:xfrm>
            <a:prstGeom prst="rect">
              <a:avLst/>
            </a:prstGeom>
            <a:noFill/>
          </p:spPr>
          <p:txBody>
            <a:bodyPr wrap="square" rtlCol="0">
              <a:spAutoFit/>
            </a:bodyPr>
            <a:lstStyle/>
            <a:p>
              <a:r>
                <a:rPr lang="en-US" sz="9600" dirty="0"/>
                <a:t>4</a:t>
              </a:r>
              <a:endParaRPr lang="en-IN" sz="9600" dirty="0"/>
            </a:p>
          </p:txBody>
        </p:sp>
        <p:sp>
          <p:nvSpPr>
            <p:cNvPr id="28" name="TextBox 27"/>
            <p:cNvSpPr txBox="1"/>
            <p:nvPr/>
          </p:nvSpPr>
          <p:spPr>
            <a:xfrm>
              <a:off x="11844697" y="2304641"/>
              <a:ext cx="2650601" cy="1569660"/>
            </a:xfrm>
            <a:prstGeom prst="rect">
              <a:avLst/>
            </a:prstGeom>
            <a:noFill/>
          </p:spPr>
          <p:txBody>
            <a:bodyPr wrap="square" rtlCol="0">
              <a:spAutoFit/>
            </a:bodyPr>
            <a:lstStyle/>
            <a:p>
              <a:r>
                <a:rPr lang="en-US" sz="2400" b="1" dirty="0">
                  <a:solidFill>
                    <a:srgbClr val="272525"/>
                  </a:solidFill>
                  <a:latin typeface="Gelasio" pitchFamily="34" charset="0"/>
                  <a:ea typeface="Gelasio" pitchFamily="34" charset="-122"/>
                  <a:cs typeface="Gelasio" pitchFamily="34" charset="-120"/>
                </a:rPr>
                <a:t>Application Development &amp; Maintenance</a:t>
              </a:r>
              <a:endParaRPr lang="en-US" sz="2400" b="1" dirty="0"/>
            </a:p>
            <a:p>
              <a:endParaRPr lang="en-IN" sz="2400" b="1" dirty="0"/>
            </a:p>
          </p:txBody>
        </p:sp>
        <p:sp>
          <p:nvSpPr>
            <p:cNvPr id="31" name="TextBox 30"/>
            <p:cNvSpPr txBox="1"/>
            <p:nvPr/>
          </p:nvSpPr>
          <p:spPr>
            <a:xfrm>
              <a:off x="11808930" y="4147615"/>
              <a:ext cx="2650601" cy="2626360"/>
            </a:xfrm>
            <a:prstGeom prst="rect">
              <a:avLst/>
            </a:prstGeom>
            <a:noFill/>
          </p:spPr>
          <p:txBody>
            <a:bodyPr wrap="square" rtlCol="0">
              <a:spAutoFit/>
            </a:bodyPr>
            <a:lstStyle/>
            <a:p>
              <a:r>
                <a:rPr lang="en-US" sz="1800" dirty="0">
                  <a:solidFill>
                    <a:srgbClr val="272525"/>
                  </a:solidFill>
                  <a:latin typeface="Lato" pitchFamily="34" charset="0"/>
                  <a:ea typeface="Lato" pitchFamily="34" charset="-122"/>
                  <a:cs typeface="Lato" pitchFamily="34" charset="-120"/>
                </a:rPr>
                <a:t>Bringing in diverse expertise in organizational, technological, and process operations to develop and maintain mission-critical applications</a:t>
              </a:r>
              <a:endParaRPr lang="en-US" sz="1800" dirty="0"/>
            </a:p>
            <a:p>
              <a:endParaRPr lang="en-IN" dirty="0"/>
            </a:p>
          </p:txBody>
        </p:sp>
      </p:grpSp>
      <p:grpSp>
        <p:nvGrpSpPr>
          <p:cNvPr id="33" name="Group 32"/>
          <p:cNvGrpSpPr/>
          <p:nvPr/>
        </p:nvGrpSpPr>
        <p:grpSpPr>
          <a:xfrm>
            <a:off x="5753931" y="280203"/>
            <a:ext cx="3213951" cy="7684280"/>
            <a:chOff x="11510176" y="272006"/>
            <a:chExt cx="3213951" cy="7684280"/>
          </a:xfrm>
        </p:grpSpPr>
        <p:sp>
          <p:nvSpPr>
            <p:cNvPr id="34" name="Rectangle 33"/>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35" name="TextBox 34"/>
            <p:cNvSpPr txBox="1"/>
            <p:nvPr/>
          </p:nvSpPr>
          <p:spPr>
            <a:xfrm>
              <a:off x="12559661" y="649121"/>
              <a:ext cx="2164466" cy="1569660"/>
            </a:xfrm>
            <a:prstGeom prst="rect">
              <a:avLst/>
            </a:prstGeom>
            <a:noFill/>
          </p:spPr>
          <p:txBody>
            <a:bodyPr wrap="square" rtlCol="0">
              <a:spAutoFit/>
            </a:bodyPr>
            <a:lstStyle/>
            <a:p>
              <a:r>
                <a:rPr lang="en-US" sz="9600" dirty="0"/>
                <a:t>3</a:t>
              </a:r>
              <a:endParaRPr lang="en-IN" sz="9600" dirty="0"/>
            </a:p>
          </p:txBody>
        </p:sp>
        <p:sp>
          <p:nvSpPr>
            <p:cNvPr id="36" name="TextBox 35"/>
            <p:cNvSpPr txBox="1"/>
            <p:nvPr/>
          </p:nvSpPr>
          <p:spPr>
            <a:xfrm>
              <a:off x="11844697" y="2304641"/>
              <a:ext cx="2650601" cy="1200329"/>
            </a:xfrm>
            <a:prstGeom prst="rect">
              <a:avLst/>
            </a:prstGeom>
            <a:noFill/>
          </p:spPr>
          <p:txBody>
            <a:bodyPr wrap="square" rtlCol="0">
              <a:spAutoFit/>
            </a:bodyPr>
            <a:lstStyle/>
            <a:p>
              <a:r>
                <a:rPr lang="en-US" sz="2400" b="1" dirty="0">
                  <a:solidFill>
                    <a:srgbClr val="272525"/>
                  </a:solidFill>
                  <a:latin typeface="Gelasio" pitchFamily="34" charset="0"/>
                  <a:ea typeface="Gelasio" pitchFamily="34" charset="-122"/>
                  <a:cs typeface="Gelasio" pitchFamily="34" charset="-120"/>
                </a:rPr>
                <a:t>Product Development &amp; Engineering</a:t>
              </a:r>
              <a:endParaRPr lang="en-US" sz="2400" b="1" dirty="0">
                <a:solidFill>
                  <a:srgbClr val="272525"/>
                </a:solidFill>
                <a:latin typeface="Gelasio" pitchFamily="34" charset="0"/>
                <a:ea typeface="Gelasio" pitchFamily="34" charset="-122"/>
                <a:cs typeface="Gelasio" pitchFamily="34" charset="-120"/>
              </a:endParaRPr>
            </a:p>
          </p:txBody>
        </p:sp>
        <p:sp>
          <p:nvSpPr>
            <p:cNvPr id="37" name="TextBox 36"/>
            <p:cNvSpPr txBox="1"/>
            <p:nvPr/>
          </p:nvSpPr>
          <p:spPr>
            <a:xfrm>
              <a:off x="11808930" y="4147615"/>
              <a:ext cx="2650601" cy="2308324"/>
            </a:xfrm>
            <a:prstGeom prst="rect">
              <a:avLst/>
            </a:prstGeom>
            <a:noFill/>
          </p:spPr>
          <p:txBody>
            <a:bodyPr wrap="square" rtlCol="0">
              <a:spAutoFit/>
            </a:bodyPr>
            <a:lstStyle/>
            <a:p>
              <a:r>
                <a:rPr lang="en-US" sz="1800" dirty="0">
                  <a:solidFill>
                    <a:srgbClr val="272525"/>
                  </a:solidFill>
                  <a:latin typeface="Lato" pitchFamily="34" charset="0"/>
                  <a:ea typeface="Lato" pitchFamily="34" charset="-122"/>
                  <a:cs typeface="Lato" pitchFamily="34" charset="-120"/>
                </a:rPr>
                <a:t>Drive innovation - from idea to market-ready product - with the help of cutting-edge technology and engineering practices, fueled by our partner ecosystem</a:t>
              </a:r>
              <a:endParaRPr lang="en-US" sz="1800" dirty="0">
                <a:solidFill>
                  <a:srgbClr val="272525"/>
                </a:solidFill>
                <a:latin typeface="Lato" pitchFamily="34" charset="0"/>
                <a:ea typeface="Lato" pitchFamily="34" charset="-122"/>
                <a:cs typeface="Lato" pitchFamily="34" charset="-120"/>
              </a:endParaRPr>
            </a:p>
          </p:txBody>
        </p:sp>
      </p:grpSp>
      <p:grpSp>
        <p:nvGrpSpPr>
          <p:cNvPr id="45" name="Group 44"/>
          <p:cNvGrpSpPr/>
          <p:nvPr/>
        </p:nvGrpSpPr>
        <p:grpSpPr>
          <a:xfrm>
            <a:off x="5805421" y="349168"/>
            <a:ext cx="3213951" cy="7684280"/>
            <a:chOff x="11510176" y="272006"/>
            <a:chExt cx="3213951" cy="7684280"/>
          </a:xfrm>
        </p:grpSpPr>
        <p:sp>
          <p:nvSpPr>
            <p:cNvPr id="46" name="Rectangle 45"/>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47" name="TextBox 46"/>
            <p:cNvSpPr txBox="1"/>
            <p:nvPr/>
          </p:nvSpPr>
          <p:spPr>
            <a:xfrm>
              <a:off x="12559661" y="649121"/>
              <a:ext cx="2164466" cy="1107996"/>
            </a:xfrm>
            <a:prstGeom prst="rect">
              <a:avLst/>
            </a:prstGeom>
            <a:noFill/>
          </p:spPr>
          <p:txBody>
            <a:bodyPr wrap="square" rtlCol="0">
              <a:spAutoFit/>
            </a:bodyPr>
            <a:lstStyle/>
            <a:p>
              <a:r>
                <a:rPr lang="en-US" sz="6600" dirty="0"/>
                <a:t>2</a:t>
              </a:r>
              <a:endParaRPr lang="en-IN" sz="6600" dirty="0"/>
            </a:p>
          </p:txBody>
        </p:sp>
        <p:sp>
          <p:nvSpPr>
            <p:cNvPr id="48" name="TextBox 47"/>
            <p:cNvSpPr txBox="1"/>
            <p:nvPr/>
          </p:nvSpPr>
          <p:spPr>
            <a:xfrm>
              <a:off x="12001402" y="1540886"/>
              <a:ext cx="2162675" cy="1015663"/>
            </a:xfrm>
            <a:prstGeom prst="rect">
              <a:avLst/>
            </a:prstGeom>
            <a:noFill/>
          </p:spPr>
          <p:txBody>
            <a:bodyPr wrap="square" rtlCol="0">
              <a:spAutoFit/>
            </a:bodyPr>
            <a:lstStyle/>
            <a:p>
              <a:pPr marL="342900" indent="-342900">
                <a:buFont typeface="Arial" panose="020B0604020202020204" pitchFamily="34" charset="0"/>
                <a:buChar char="•"/>
              </a:pPr>
              <a:r>
                <a:rPr lang="en-US" sz="2000" b="1" dirty="0">
                  <a:solidFill>
                    <a:srgbClr val="272525"/>
                  </a:solidFill>
                  <a:latin typeface="Gelasio" pitchFamily="34" charset="0"/>
                  <a:ea typeface="Gelasio" pitchFamily="34" charset="-122"/>
                  <a:cs typeface="Gelasio" pitchFamily="34" charset="-120"/>
                </a:rPr>
                <a:t>Enhanced Customer Satisfaction:</a:t>
              </a:r>
              <a:endParaRPr lang="en-US" sz="2000" b="1" dirty="0">
                <a:solidFill>
                  <a:srgbClr val="272525"/>
                </a:solidFill>
                <a:latin typeface="Gelasio" pitchFamily="34" charset="0"/>
                <a:ea typeface="Gelasio" pitchFamily="34" charset="-122"/>
                <a:cs typeface="Gelasio" pitchFamily="34" charset="-120"/>
              </a:endParaRPr>
            </a:p>
          </p:txBody>
        </p:sp>
        <p:sp>
          <p:nvSpPr>
            <p:cNvPr id="49" name="TextBox 48"/>
            <p:cNvSpPr txBox="1"/>
            <p:nvPr/>
          </p:nvSpPr>
          <p:spPr>
            <a:xfrm>
              <a:off x="11766601" y="2792743"/>
              <a:ext cx="2650601" cy="4801314"/>
            </a:xfrm>
            <a:prstGeom prst="rect">
              <a:avLst/>
            </a:prstGeom>
            <a:noFill/>
          </p:spPr>
          <p:txBody>
            <a:bodyPr wrap="square" rtlCol="0">
              <a:spAutoFit/>
            </a:bodyPr>
            <a:lstStyle/>
            <a:p>
              <a:r>
                <a:rPr lang="en-US" sz="1800" b="1" dirty="0">
                  <a:solidFill>
                    <a:srgbClr val="272525"/>
                  </a:solidFill>
                  <a:latin typeface="Lato" pitchFamily="34" charset="0"/>
                  <a:ea typeface="Lato" pitchFamily="34" charset="-122"/>
                  <a:cs typeface="Lato" pitchFamily="34" charset="-120"/>
                </a:rPr>
                <a:t>Faster Response Times: </a:t>
              </a:r>
              <a:r>
                <a:rPr lang="en-US" sz="1800" dirty="0">
                  <a:solidFill>
                    <a:srgbClr val="272525"/>
                  </a:solidFill>
                  <a:latin typeface="Lato" pitchFamily="34" charset="0"/>
                  <a:ea typeface="Lato" pitchFamily="34" charset="-122"/>
                  <a:cs typeface="Lato" pitchFamily="34" charset="-120"/>
                </a:rPr>
                <a:t>the automobile industry to respond more quickly to customer demands and market changes. </a:t>
              </a:r>
              <a:r>
                <a:rPr lang="en-US" sz="1800" b="1" dirty="0">
                  <a:solidFill>
                    <a:srgbClr val="272525"/>
                  </a:solidFill>
                  <a:latin typeface="Lato" pitchFamily="34" charset="0"/>
                  <a:ea typeface="Lato" pitchFamily="34" charset="-122"/>
                  <a:cs typeface="Lato" pitchFamily="34" charset="-120"/>
                </a:rPr>
                <a:t>Quality Management: </a:t>
              </a:r>
              <a:r>
                <a:rPr lang="en-US" sz="1800" dirty="0">
                  <a:solidFill>
                    <a:srgbClr val="272525"/>
                  </a:solidFill>
                  <a:latin typeface="Lato" pitchFamily="34" charset="0"/>
                  <a:ea typeface="Lato" pitchFamily="34" charset="-122"/>
                  <a:cs typeface="Lato" pitchFamily="34" charset="-120"/>
                </a:rPr>
                <a:t>Ensuring the quality of automotive products is paramount for customer satisfaction and brand reputation. Streamlined processes for quality assurance, backed by SAP, can help SMEs in maintaining and improving product quality.</a:t>
              </a:r>
              <a:endParaRPr lang="en-US" sz="1800" dirty="0">
                <a:solidFill>
                  <a:srgbClr val="272525"/>
                </a:solidFill>
                <a:latin typeface="Lato" pitchFamily="34" charset="0"/>
                <a:ea typeface="Lato" pitchFamily="34" charset="-122"/>
                <a:cs typeface="Lato" pitchFamily="34" charset="-120"/>
              </a:endParaRPr>
            </a:p>
          </p:txBody>
        </p:sp>
      </p:grpSp>
      <p:grpSp>
        <p:nvGrpSpPr>
          <p:cNvPr id="50" name="Group 49"/>
          <p:cNvGrpSpPr/>
          <p:nvPr/>
        </p:nvGrpSpPr>
        <p:grpSpPr>
          <a:xfrm>
            <a:off x="3042093" y="327292"/>
            <a:ext cx="2942199" cy="7876186"/>
            <a:chOff x="11510176" y="272006"/>
            <a:chExt cx="2942199" cy="7876186"/>
          </a:xfrm>
        </p:grpSpPr>
        <p:sp>
          <p:nvSpPr>
            <p:cNvPr id="51" name="Rectangle 50"/>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52" name="TextBox 51"/>
            <p:cNvSpPr txBox="1"/>
            <p:nvPr/>
          </p:nvSpPr>
          <p:spPr>
            <a:xfrm>
              <a:off x="12559661" y="649122"/>
              <a:ext cx="1063491" cy="1200329"/>
            </a:xfrm>
            <a:prstGeom prst="rect">
              <a:avLst/>
            </a:prstGeom>
            <a:noFill/>
          </p:spPr>
          <p:txBody>
            <a:bodyPr wrap="square" rtlCol="0">
              <a:spAutoFit/>
            </a:bodyPr>
            <a:lstStyle/>
            <a:p>
              <a:r>
                <a:rPr lang="en-US" sz="7200" dirty="0"/>
                <a:t>1</a:t>
              </a:r>
              <a:endParaRPr lang="en-IN" sz="7200" dirty="0"/>
            </a:p>
          </p:txBody>
        </p:sp>
        <p:sp>
          <p:nvSpPr>
            <p:cNvPr id="53" name="TextBox 52"/>
            <p:cNvSpPr txBox="1"/>
            <p:nvPr/>
          </p:nvSpPr>
          <p:spPr>
            <a:xfrm>
              <a:off x="11623437" y="1599966"/>
              <a:ext cx="2828938" cy="1112228"/>
            </a:xfrm>
            <a:prstGeom prst="rect">
              <a:avLst/>
            </a:prstGeom>
            <a:noFill/>
          </p:spPr>
          <p:txBody>
            <a:bodyPr wrap="square" rtlCol="0">
              <a:spAutoFit/>
            </a:bodyPr>
            <a:lstStyle/>
            <a:p>
              <a:pPr marL="342900" indent="-342900" algn="just">
                <a:lnSpc>
                  <a:spcPts val="2735"/>
                </a:lnSpc>
                <a:buFont typeface="Arial" panose="020B0604020202020204" pitchFamily="34" charset="0"/>
                <a:buChar char="•"/>
              </a:pPr>
              <a:r>
                <a:rPr lang="en-US" sz="2000" b="1" dirty="0">
                  <a:solidFill>
                    <a:srgbClr val="272525"/>
                  </a:solidFill>
                  <a:latin typeface="Gelasio" pitchFamily="34" charset="0"/>
                  <a:ea typeface="Gelasio" pitchFamily="34" charset="-122"/>
                </a:rPr>
                <a:t>Streamlined operation and </a:t>
              </a:r>
              <a:endParaRPr lang="en-US" sz="2000" b="1" dirty="0">
                <a:solidFill>
                  <a:srgbClr val="272525"/>
                </a:solidFill>
                <a:latin typeface="Gelasio" pitchFamily="34" charset="0"/>
                <a:ea typeface="Gelasio" pitchFamily="34" charset="-122"/>
              </a:endParaRPr>
            </a:p>
            <a:p>
              <a:pPr algn="just">
                <a:lnSpc>
                  <a:spcPts val="2735"/>
                </a:lnSpc>
              </a:pPr>
              <a:r>
                <a:rPr lang="en-US" sz="2000" b="1" dirty="0">
                  <a:solidFill>
                    <a:srgbClr val="272525"/>
                  </a:solidFill>
                  <a:latin typeface="Gelasio" pitchFamily="34" charset="0"/>
                  <a:ea typeface="Gelasio" pitchFamily="34" charset="-122"/>
                </a:rPr>
                <a:t>     cost efficiency </a:t>
              </a:r>
              <a:endParaRPr lang="en-US" sz="2000" b="1" dirty="0"/>
            </a:p>
          </p:txBody>
        </p:sp>
        <p:sp>
          <p:nvSpPr>
            <p:cNvPr id="54" name="TextBox 53"/>
            <p:cNvSpPr txBox="1"/>
            <p:nvPr/>
          </p:nvSpPr>
          <p:spPr>
            <a:xfrm>
              <a:off x="11712856" y="2705035"/>
              <a:ext cx="2650601" cy="5443157"/>
            </a:xfrm>
            <a:prstGeom prst="rect">
              <a:avLst/>
            </a:prstGeom>
            <a:noFill/>
          </p:spPr>
          <p:txBody>
            <a:bodyPr wrap="square" rtlCol="0">
              <a:spAutoFit/>
            </a:bodyPr>
            <a:lstStyle/>
            <a:p>
              <a:pPr marL="0" indent="0">
                <a:lnSpc>
                  <a:spcPts val="2210"/>
                </a:lnSpc>
                <a:buNone/>
              </a:pPr>
              <a:r>
                <a:rPr lang="en-US" sz="1800" b="1" dirty="0">
                  <a:solidFill>
                    <a:srgbClr val="272525"/>
                  </a:solidFill>
                  <a:latin typeface="Lato" pitchFamily="34" charset="0"/>
                  <a:ea typeface="Lato" pitchFamily="34" charset="-122"/>
                  <a:cs typeface="Lato" pitchFamily="34" charset="-120"/>
                </a:rPr>
                <a:t>Integration Across Functions: </a:t>
              </a:r>
              <a:r>
                <a:rPr lang="en-US" sz="1800" dirty="0">
                  <a:solidFill>
                    <a:srgbClr val="272525"/>
                  </a:solidFill>
                  <a:latin typeface="Lato" pitchFamily="34" charset="0"/>
                  <a:ea typeface="Lato" pitchFamily="34" charset="-122"/>
                  <a:cs typeface="Lato" pitchFamily="34" charset="-120"/>
                </a:rPr>
                <a:t>SAP tools enable seamless integration of various business functions such as finance, procurement, manufacturing, and supply chain.</a:t>
              </a:r>
              <a:endParaRPr lang="en-US" sz="1800" dirty="0">
                <a:solidFill>
                  <a:srgbClr val="272525"/>
                </a:solidFill>
                <a:latin typeface="Lato" pitchFamily="34" charset="0"/>
                <a:ea typeface="Lato" pitchFamily="34" charset="-122"/>
                <a:cs typeface="Lato" pitchFamily="34" charset="-120"/>
              </a:endParaRPr>
            </a:p>
            <a:p>
              <a:pPr marL="0" indent="0">
                <a:lnSpc>
                  <a:spcPts val="2210"/>
                </a:lnSpc>
                <a:buNone/>
              </a:pPr>
              <a:r>
                <a:rPr lang="en-US" b="1" dirty="0"/>
                <a:t>Real-time </a:t>
              </a:r>
              <a:r>
                <a:rPr lang="en-US" b="1" dirty="0" err="1"/>
                <a:t>Visibility:</a:t>
              </a:r>
              <a:r>
                <a:rPr lang="en-US" sz="1800" dirty="0" err="1"/>
                <a:t>the</a:t>
              </a:r>
              <a:r>
                <a:rPr lang="en-US" sz="1800" dirty="0"/>
                <a:t> automobile industry, having up-to-date information is crucial for decision-making. Real-time data helps in identifying bottlenecks, optimizing inventory levels, and making informed decisions to reduce costs.</a:t>
              </a:r>
              <a:endParaRPr lang="en-US" sz="1800" dirty="0"/>
            </a:p>
          </p:txBody>
        </p:sp>
      </p:grpSp>
      <p:grpSp>
        <p:nvGrpSpPr>
          <p:cNvPr id="55" name="Group 54"/>
          <p:cNvGrpSpPr/>
          <p:nvPr/>
        </p:nvGrpSpPr>
        <p:grpSpPr>
          <a:xfrm>
            <a:off x="91843" y="280203"/>
            <a:ext cx="3222774" cy="7830466"/>
            <a:chOff x="11510176" y="125820"/>
            <a:chExt cx="3213951" cy="7830466"/>
          </a:xfrm>
        </p:grpSpPr>
        <p:sp>
          <p:nvSpPr>
            <p:cNvPr id="56" name="Rectangle 55"/>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57" name="TextBox 56"/>
            <p:cNvSpPr txBox="1"/>
            <p:nvPr/>
          </p:nvSpPr>
          <p:spPr>
            <a:xfrm>
              <a:off x="12559661" y="649121"/>
              <a:ext cx="2164466" cy="1569660"/>
            </a:xfrm>
            <a:prstGeom prst="rect">
              <a:avLst/>
            </a:prstGeom>
            <a:noFill/>
          </p:spPr>
          <p:txBody>
            <a:bodyPr wrap="square" rtlCol="0">
              <a:spAutoFit/>
            </a:bodyPr>
            <a:lstStyle/>
            <a:p>
              <a:endParaRPr lang="en-IN" sz="9600" dirty="0"/>
            </a:p>
          </p:txBody>
        </p:sp>
        <p:sp>
          <p:nvSpPr>
            <p:cNvPr id="58" name="TextBox 57"/>
            <p:cNvSpPr txBox="1"/>
            <p:nvPr/>
          </p:nvSpPr>
          <p:spPr>
            <a:xfrm rot="16200000">
              <a:off x="9600242" y="2961169"/>
              <a:ext cx="6398388" cy="727689"/>
            </a:xfrm>
            <a:prstGeom prst="rect">
              <a:avLst/>
            </a:prstGeom>
            <a:noFill/>
          </p:spPr>
          <p:txBody>
            <a:bodyPr wrap="square" rtlCol="0">
              <a:spAutoFit/>
            </a:bodyPr>
            <a:lstStyle/>
            <a:p>
              <a:pPr marL="571500" indent="-571500" algn="ctr">
                <a:lnSpc>
                  <a:spcPts val="5470"/>
                </a:lnSpc>
                <a:buFont typeface="Wingdings" panose="05000000000000000000" pitchFamily="2" charset="2"/>
                <a:buChar char="v"/>
              </a:pPr>
              <a:r>
                <a:rPr lang="en-US" sz="3200" b="1" dirty="0">
                  <a:solidFill>
                    <a:srgbClr val="312F2B"/>
                  </a:solidFill>
                  <a:latin typeface="Gelasio" pitchFamily="34" charset="0"/>
                  <a:ea typeface="Gelasio" pitchFamily="34" charset="-122"/>
                  <a:cs typeface="Gelasio" pitchFamily="34" charset="-120"/>
                </a:rPr>
                <a:t>Importance of Efficient Processes</a:t>
              </a:r>
              <a:endParaRPr lang="en-US" sz="3200" b="1" dirty="0"/>
            </a:p>
          </p:txBody>
        </p:sp>
        <p:sp>
          <p:nvSpPr>
            <p:cNvPr id="59" name="TextBox 58"/>
            <p:cNvSpPr txBox="1"/>
            <p:nvPr/>
          </p:nvSpPr>
          <p:spPr>
            <a:xfrm>
              <a:off x="11808930" y="4147615"/>
              <a:ext cx="2650601" cy="364843"/>
            </a:xfrm>
            <a:prstGeom prst="rect">
              <a:avLst/>
            </a:prstGeom>
            <a:noFill/>
          </p:spPr>
          <p:txBody>
            <a:bodyPr wrap="square" rtlCol="0">
              <a:spAutoFit/>
            </a:bodyPr>
            <a:lstStyle/>
            <a:p>
              <a:pPr marL="0" indent="0">
                <a:lnSpc>
                  <a:spcPts val="2210"/>
                </a:lnSpc>
                <a:buNone/>
              </a:pPr>
              <a:endParaRPr lang="en-US" sz="1800" dirty="0"/>
            </a:p>
          </p:txBody>
        </p:sp>
      </p:grpSp>
      <p:pic>
        <p:nvPicPr>
          <p:cNvPr id="60" name="3D Model 59"/>
          <p:cNvPicPr>
            <a:picLocks noGrp="1" noRot="1" noChangeAspect="1" noMove="1" noResize="1" noEditPoints="1" noAdjustHandles="1" noChangeArrowheads="1" noChangeShapeType="1" noCrop="1"/>
          </p:cNvPicPr>
          <p:nvPr/>
        </p:nvPicPr>
        <p:blipFill>
          <a:blip r:embed="rId2"/>
          <a:stretch>
            <a:fillRect/>
          </a:stretch>
        </p:blipFill>
        <p:spPr>
          <a:xfrm rot="168937">
            <a:off x="12005156" y="6381190"/>
            <a:ext cx="2580454" cy="1799654"/>
          </a:xfrm>
          <a:prstGeom prst="rect">
            <a:avLst/>
          </a:prstGeom>
        </p:spPr>
      </p:pic>
      <p:pic>
        <p:nvPicPr>
          <p:cNvPr id="5" name="Picture 4"/>
          <p:cNvPicPr>
            <a:picLocks noChangeAspect="1"/>
          </p:cNvPicPr>
          <p:nvPr/>
        </p:nvPicPr>
        <p:blipFill>
          <a:blip r:embed="rId3"/>
          <a:stretch>
            <a:fillRect/>
          </a:stretch>
        </p:blipFill>
        <p:spPr>
          <a:xfrm>
            <a:off x="10186456" y="2211366"/>
            <a:ext cx="3753955" cy="23396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2147" y="0"/>
            <a:ext cx="14630400" cy="8230910"/>
          </a:xfrm>
          <a:prstGeom prst="rect">
            <a:avLst/>
          </a:prstGeom>
          <a:solidFill>
            <a:srgbClr val="FFFFFF">
              <a:alpha val="75000"/>
            </a:srgbClr>
          </a:solidFill>
          <a:ln w="10954">
            <a:solidFill>
              <a:srgbClr val="FFFFFF">
                <a:alpha val="64000"/>
              </a:srgbClr>
            </a:solidFill>
            <a:prstDash val="solid"/>
          </a:ln>
        </p:spPr>
        <p:txBody>
          <a:bodyPr/>
          <a:lstStyle/>
          <a:p>
            <a:endParaRPr lang="en-IN"/>
          </a:p>
        </p:txBody>
      </p:sp>
      <p:grpSp>
        <p:nvGrpSpPr>
          <p:cNvPr id="32" name="Group 31"/>
          <p:cNvGrpSpPr/>
          <p:nvPr/>
        </p:nvGrpSpPr>
        <p:grpSpPr>
          <a:xfrm>
            <a:off x="8684851" y="258327"/>
            <a:ext cx="3213951" cy="7684280"/>
            <a:chOff x="11510176" y="272006"/>
            <a:chExt cx="3213951" cy="7684280"/>
          </a:xfrm>
        </p:grpSpPr>
        <p:sp>
          <p:nvSpPr>
            <p:cNvPr id="23" name="Rectangle 22"/>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26" name="TextBox 25"/>
            <p:cNvSpPr txBox="1"/>
            <p:nvPr/>
          </p:nvSpPr>
          <p:spPr>
            <a:xfrm>
              <a:off x="12559661" y="649121"/>
              <a:ext cx="2164466" cy="1569660"/>
            </a:xfrm>
            <a:prstGeom prst="rect">
              <a:avLst/>
            </a:prstGeom>
            <a:noFill/>
          </p:spPr>
          <p:txBody>
            <a:bodyPr wrap="square" rtlCol="0">
              <a:spAutoFit/>
            </a:bodyPr>
            <a:lstStyle/>
            <a:p>
              <a:r>
                <a:rPr lang="en-US" sz="9600" dirty="0"/>
                <a:t>4</a:t>
              </a:r>
              <a:endParaRPr lang="en-IN" sz="9600" dirty="0"/>
            </a:p>
          </p:txBody>
        </p:sp>
        <p:sp>
          <p:nvSpPr>
            <p:cNvPr id="28" name="TextBox 27"/>
            <p:cNvSpPr txBox="1"/>
            <p:nvPr/>
          </p:nvSpPr>
          <p:spPr>
            <a:xfrm>
              <a:off x="11844697" y="2304641"/>
              <a:ext cx="2650601" cy="1569660"/>
            </a:xfrm>
            <a:prstGeom prst="rect">
              <a:avLst/>
            </a:prstGeom>
            <a:noFill/>
          </p:spPr>
          <p:txBody>
            <a:bodyPr wrap="square" rtlCol="0">
              <a:spAutoFit/>
            </a:bodyPr>
            <a:lstStyle/>
            <a:p>
              <a:r>
                <a:rPr lang="en-US" sz="2400" b="1" dirty="0">
                  <a:solidFill>
                    <a:srgbClr val="272525"/>
                  </a:solidFill>
                  <a:latin typeface="Gelasio" pitchFamily="34" charset="0"/>
                  <a:ea typeface="Gelasio" pitchFamily="34" charset="-122"/>
                  <a:cs typeface="Gelasio" pitchFamily="34" charset="-120"/>
                </a:rPr>
                <a:t>Application Development &amp; Maintenance</a:t>
              </a:r>
              <a:endParaRPr lang="en-US" sz="2400" b="1" dirty="0"/>
            </a:p>
            <a:p>
              <a:endParaRPr lang="en-IN" sz="2400" b="1" dirty="0"/>
            </a:p>
          </p:txBody>
        </p:sp>
        <p:sp>
          <p:nvSpPr>
            <p:cNvPr id="31" name="TextBox 30"/>
            <p:cNvSpPr txBox="1"/>
            <p:nvPr/>
          </p:nvSpPr>
          <p:spPr>
            <a:xfrm>
              <a:off x="11808930" y="4147615"/>
              <a:ext cx="2650601" cy="2626360"/>
            </a:xfrm>
            <a:prstGeom prst="rect">
              <a:avLst/>
            </a:prstGeom>
            <a:noFill/>
          </p:spPr>
          <p:txBody>
            <a:bodyPr wrap="square" rtlCol="0">
              <a:spAutoFit/>
            </a:bodyPr>
            <a:lstStyle/>
            <a:p>
              <a:r>
                <a:rPr lang="en-US" sz="1800" dirty="0">
                  <a:solidFill>
                    <a:srgbClr val="272525"/>
                  </a:solidFill>
                  <a:latin typeface="Lato" pitchFamily="34" charset="0"/>
                  <a:ea typeface="Lato" pitchFamily="34" charset="-122"/>
                  <a:cs typeface="Lato" pitchFamily="34" charset="-120"/>
                </a:rPr>
                <a:t>Bringing in diverse expertise in organizational, technological, and process operations to develop and maintain mission-critical applications</a:t>
              </a:r>
              <a:endParaRPr lang="en-US" sz="1800" dirty="0"/>
            </a:p>
            <a:p>
              <a:endParaRPr lang="en-IN" dirty="0"/>
            </a:p>
          </p:txBody>
        </p:sp>
      </p:grpSp>
      <p:grpSp>
        <p:nvGrpSpPr>
          <p:cNvPr id="33" name="Group 32"/>
          <p:cNvGrpSpPr/>
          <p:nvPr/>
        </p:nvGrpSpPr>
        <p:grpSpPr>
          <a:xfrm>
            <a:off x="8728910" y="371044"/>
            <a:ext cx="3213951" cy="7684280"/>
            <a:chOff x="11510176" y="272006"/>
            <a:chExt cx="3213951" cy="7684280"/>
          </a:xfrm>
        </p:grpSpPr>
        <p:sp>
          <p:nvSpPr>
            <p:cNvPr id="34" name="Rectangle 33"/>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35" name="TextBox 34"/>
            <p:cNvSpPr txBox="1"/>
            <p:nvPr/>
          </p:nvSpPr>
          <p:spPr>
            <a:xfrm>
              <a:off x="12559661" y="649121"/>
              <a:ext cx="2164466" cy="1107996"/>
            </a:xfrm>
            <a:prstGeom prst="rect">
              <a:avLst/>
            </a:prstGeom>
            <a:noFill/>
          </p:spPr>
          <p:txBody>
            <a:bodyPr wrap="square" rtlCol="0">
              <a:spAutoFit/>
            </a:bodyPr>
            <a:lstStyle/>
            <a:p>
              <a:r>
                <a:rPr lang="en-US" sz="6600" dirty="0"/>
                <a:t>3</a:t>
              </a:r>
              <a:endParaRPr lang="en-IN" sz="6600" dirty="0"/>
            </a:p>
          </p:txBody>
        </p:sp>
        <p:sp>
          <p:nvSpPr>
            <p:cNvPr id="36" name="TextBox 35"/>
            <p:cNvSpPr txBox="1"/>
            <p:nvPr/>
          </p:nvSpPr>
          <p:spPr>
            <a:xfrm>
              <a:off x="11808930" y="1522259"/>
              <a:ext cx="2560643" cy="830997"/>
            </a:xfrm>
            <a:prstGeom prst="rect">
              <a:avLst/>
            </a:prstGeom>
            <a:noFill/>
          </p:spPr>
          <p:txBody>
            <a:bodyPr wrap="square" rtlCol="0">
              <a:spAutoFit/>
            </a:bodyPr>
            <a:lstStyle/>
            <a:p>
              <a:r>
                <a:rPr lang="en-US" sz="2400" dirty="0">
                  <a:solidFill>
                    <a:srgbClr val="272525"/>
                  </a:solidFill>
                  <a:latin typeface="Gelasio" pitchFamily="34" charset="0"/>
                  <a:ea typeface="Gelasio" pitchFamily="34" charset="-122"/>
                  <a:cs typeface="Gelasio" pitchFamily="34" charset="-120"/>
                </a:rPr>
                <a:t>Adaptability and Compliance</a:t>
              </a:r>
              <a:endParaRPr lang="en-US" sz="2400" dirty="0">
                <a:solidFill>
                  <a:srgbClr val="272525"/>
                </a:solidFill>
                <a:latin typeface="Gelasio" pitchFamily="34" charset="0"/>
                <a:ea typeface="Gelasio" pitchFamily="34" charset="-122"/>
                <a:cs typeface="Gelasio" pitchFamily="34" charset="-120"/>
              </a:endParaRPr>
            </a:p>
          </p:txBody>
        </p:sp>
        <p:sp>
          <p:nvSpPr>
            <p:cNvPr id="37" name="TextBox 36"/>
            <p:cNvSpPr txBox="1"/>
            <p:nvPr/>
          </p:nvSpPr>
          <p:spPr>
            <a:xfrm>
              <a:off x="11632185" y="2629298"/>
              <a:ext cx="2650601" cy="4524315"/>
            </a:xfrm>
            <a:prstGeom prst="rect">
              <a:avLst/>
            </a:prstGeom>
            <a:noFill/>
          </p:spPr>
          <p:txBody>
            <a:bodyPr wrap="square" rtlCol="0">
              <a:spAutoFit/>
            </a:bodyPr>
            <a:lstStyle/>
            <a:p>
              <a:r>
                <a:rPr lang="en-US" sz="1800" b="1" dirty="0">
                  <a:solidFill>
                    <a:srgbClr val="272525"/>
                  </a:solidFill>
                  <a:latin typeface="Lato" pitchFamily="34" charset="0"/>
                  <a:ea typeface="Lato" pitchFamily="34" charset="-122"/>
                  <a:cs typeface="Lato" pitchFamily="34" charset="-120"/>
                </a:rPr>
                <a:t>Adaptability to Industry </a:t>
              </a:r>
              <a:r>
                <a:rPr lang="en-US" sz="1800" b="1" dirty="0" err="1">
                  <a:solidFill>
                    <a:srgbClr val="272525"/>
                  </a:solidFill>
                  <a:latin typeface="Lato" pitchFamily="34" charset="0"/>
                  <a:ea typeface="Lato" pitchFamily="34" charset="-122"/>
                  <a:cs typeface="Lato" pitchFamily="34" charset="-120"/>
                </a:rPr>
                <a:t>Changes:</a:t>
              </a:r>
              <a:r>
                <a:rPr lang="en-US" sz="1800" dirty="0" err="1">
                  <a:solidFill>
                    <a:srgbClr val="272525"/>
                  </a:solidFill>
                  <a:latin typeface="Lato" pitchFamily="34" charset="0"/>
                  <a:ea typeface="Lato" pitchFamily="34" charset="-122"/>
                  <a:cs typeface="Lato" pitchFamily="34" charset="-120"/>
                </a:rPr>
                <a:t>The</a:t>
              </a:r>
              <a:r>
                <a:rPr lang="en-US" sz="1800" dirty="0">
                  <a:solidFill>
                    <a:srgbClr val="272525"/>
                  </a:solidFill>
                  <a:latin typeface="Lato" pitchFamily="34" charset="0"/>
                  <a:ea typeface="Lato" pitchFamily="34" charset="-122"/>
                  <a:cs typeface="Lato" pitchFamily="34" charset="-120"/>
                </a:rPr>
                <a:t> automobile industry is dynamic, with frequent changes in regulations, market demands, and technological advancements.</a:t>
              </a:r>
              <a:endParaRPr lang="en-US" sz="1800" dirty="0">
                <a:solidFill>
                  <a:srgbClr val="272525"/>
                </a:solidFill>
                <a:latin typeface="Lato" pitchFamily="34" charset="0"/>
                <a:ea typeface="Lato" pitchFamily="34" charset="-122"/>
                <a:cs typeface="Lato" pitchFamily="34" charset="-120"/>
              </a:endParaRPr>
            </a:p>
            <a:p>
              <a:r>
                <a:rPr lang="en-US" sz="1800" b="1" dirty="0">
                  <a:solidFill>
                    <a:srgbClr val="272525"/>
                  </a:solidFill>
                  <a:latin typeface="Lato" pitchFamily="34" charset="0"/>
                  <a:ea typeface="Lato" pitchFamily="34" charset="-122"/>
                  <a:cs typeface="Lato" pitchFamily="34" charset="-120"/>
                </a:rPr>
                <a:t>Regulatory Compliance: </a:t>
              </a:r>
              <a:r>
                <a:rPr lang="en-US" sz="1800" dirty="0">
                  <a:solidFill>
                    <a:srgbClr val="272525"/>
                  </a:solidFill>
                  <a:latin typeface="Lato" pitchFamily="34" charset="0"/>
                  <a:ea typeface="Lato" pitchFamily="34" charset="-122"/>
                  <a:cs typeface="Lato" pitchFamily="34" charset="-120"/>
                </a:rPr>
                <a:t>The automobile industry is subject to numerous regulations, both in terms of manufacturing standards and environmental considerations.</a:t>
              </a:r>
              <a:endParaRPr lang="en-US" sz="1800" dirty="0">
                <a:solidFill>
                  <a:srgbClr val="272525"/>
                </a:solidFill>
                <a:latin typeface="Lato" pitchFamily="34" charset="0"/>
                <a:ea typeface="Lato" pitchFamily="34" charset="-122"/>
                <a:cs typeface="Lato" pitchFamily="34" charset="-120"/>
              </a:endParaRPr>
            </a:p>
          </p:txBody>
        </p:sp>
      </p:grpSp>
      <p:grpSp>
        <p:nvGrpSpPr>
          <p:cNvPr id="45" name="Group 44"/>
          <p:cNvGrpSpPr/>
          <p:nvPr/>
        </p:nvGrpSpPr>
        <p:grpSpPr>
          <a:xfrm>
            <a:off x="5805421" y="349168"/>
            <a:ext cx="3213951" cy="7684280"/>
            <a:chOff x="11510176" y="272006"/>
            <a:chExt cx="3213951" cy="7684280"/>
          </a:xfrm>
        </p:grpSpPr>
        <p:sp>
          <p:nvSpPr>
            <p:cNvPr id="46" name="Rectangle 45"/>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47" name="TextBox 46"/>
            <p:cNvSpPr txBox="1"/>
            <p:nvPr/>
          </p:nvSpPr>
          <p:spPr>
            <a:xfrm>
              <a:off x="12559661" y="649121"/>
              <a:ext cx="2164466" cy="1107996"/>
            </a:xfrm>
            <a:prstGeom prst="rect">
              <a:avLst/>
            </a:prstGeom>
            <a:noFill/>
          </p:spPr>
          <p:txBody>
            <a:bodyPr wrap="square" rtlCol="0">
              <a:spAutoFit/>
            </a:bodyPr>
            <a:lstStyle/>
            <a:p>
              <a:r>
                <a:rPr lang="en-US" sz="6600" dirty="0"/>
                <a:t>2</a:t>
              </a:r>
              <a:endParaRPr lang="en-IN" sz="6000" dirty="0"/>
            </a:p>
          </p:txBody>
        </p:sp>
        <p:sp>
          <p:nvSpPr>
            <p:cNvPr id="48" name="TextBox 47"/>
            <p:cNvSpPr txBox="1"/>
            <p:nvPr/>
          </p:nvSpPr>
          <p:spPr>
            <a:xfrm>
              <a:off x="11852244" y="1477627"/>
              <a:ext cx="2316080" cy="1015663"/>
            </a:xfrm>
            <a:prstGeom prst="rect">
              <a:avLst/>
            </a:prstGeom>
            <a:noFill/>
          </p:spPr>
          <p:txBody>
            <a:bodyPr wrap="square" rtlCol="0">
              <a:spAutoFit/>
            </a:bodyPr>
            <a:lstStyle/>
            <a:p>
              <a:pPr marL="342900" indent="-342900">
                <a:buFont typeface="Arial" panose="020B0604020202020204" pitchFamily="34" charset="0"/>
                <a:buChar char="•"/>
              </a:pPr>
              <a:r>
                <a:rPr lang="en-US" sz="2000" b="1" dirty="0">
                  <a:solidFill>
                    <a:srgbClr val="272525"/>
                  </a:solidFill>
                  <a:latin typeface="Gelasio" pitchFamily="34" charset="0"/>
                  <a:ea typeface="Gelasio" pitchFamily="34" charset="-122"/>
                  <a:cs typeface="Gelasio" pitchFamily="34" charset="-120"/>
                </a:rPr>
                <a:t>Enhanced Customer Satisfaction</a:t>
              </a:r>
              <a:endParaRPr lang="en-US" sz="2000" b="1" dirty="0">
                <a:solidFill>
                  <a:srgbClr val="272525"/>
                </a:solidFill>
                <a:latin typeface="Gelasio" pitchFamily="34" charset="0"/>
                <a:ea typeface="Gelasio" pitchFamily="34" charset="-122"/>
                <a:cs typeface="Gelasio" pitchFamily="34" charset="-120"/>
              </a:endParaRPr>
            </a:p>
          </p:txBody>
        </p:sp>
        <p:sp>
          <p:nvSpPr>
            <p:cNvPr id="49" name="TextBox 48"/>
            <p:cNvSpPr txBox="1"/>
            <p:nvPr/>
          </p:nvSpPr>
          <p:spPr>
            <a:xfrm>
              <a:off x="11774772" y="2919826"/>
              <a:ext cx="2650601" cy="4801314"/>
            </a:xfrm>
            <a:prstGeom prst="rect">
              <a:avLst/>
            </a:prstGeom>
            <a:noFill/>
          </p:spPr>
          <p:txBody>
            <a:bodyPr wrap="square" rtlCol="0">
              <a:spAutoFit/>
            </a:bodyPr>
            <a:lstStyle/>
            <a:p>
              <a:r>
                <a:rPr lang="en-US" sz="1800" b="1" dirty="0">
                  <a:solidFill>
                    <a:srgbClr val="272525"/>
                  </a:solidFill>
                  <a:latin typeface="Lato" pitchFamily="34" charset="0"/>
                  <a:ea typeface="Lato" pitchFamily="34" charset="-122"/>
                  <a:cs typeface="Lato" pitchFamily="34" charset="-120"/>
                </a:rPr>
                <a:t>Faster Response Times: </a:t>
              </a:r>
              <a:r>
                <a:rPr lang="en-US" sz="1800" dirty="0">
                  <a:solidFill>
                    <a:srgbClr val="272525"/>
                  </a:solidFill>
                  <a:latin typeface="Lato" pitchFamily="34" charset="0"/>
                  <a:ea typeface="Lato" pitchFamily="34" charset="-122"/>
                  <a:cs typeface="Lato" pitchFamily="34" charset="-120"/>
                </a:rPr>
                <a:t>the automobile industry to respond more quickly to customer demands and market changes. </a:t>
              </a:r>
              <a:r>
                <a:rPr lang="en-US" sz="1800" b="1" dirty="0">
                  <a:solidFill>
                    <a:srgbClr val="272525"/>
                  </a:solidFill>
                  <a:latin typeface="Lato" pitchFamily="34" charset="0"/>
                  <a:ea typeface="Lato" pitchFamily="34" charset="-122"/>
                  <a:cs typeface="Lato" pitchFamily="34" charset="-120"/>
                </a:rPr>
                <a:t>Quality Management: </a:t>
              </a:r>
              <a:r>
                <a:rPr lang="en-US" sz="1800" dirty="0">
                  <a:solidFill>
                    <a:srgbClr val="272525"/>
                  </a:solidFill>
                  <a:latin typeface="Lato" pitchFamily="34" charset="0"/>
                  <a:ea typeface="Lato" pitchFamily="34" charset="-122"/>
                  <a:cs typeface="Lato" pitchFamily="34" charset="-120"/>
                </a:rPr>
                <a:t>Ensuring the quality of automotive products is paramount for customer satisfaction and brand reputation. Streamlined processes for quality assurance, backed by SAP, can help SMEs in maintaining and improving product quality.</a:t>
              </a:r>
              <a:endParaRPr lang="en-US" sz="1800" dirty="0">
                <a:solidFill>
                  <a:srgbClr val="272525"/>
                </a:solidFill>
                <a:latin typeface="Lato" pitchFamily="34" charset="0"/>
                <a:ea typeface="Lato" pitchFamily="34" charset="-122"/>
                <a:cs typeface="Lato" pitchFamily="34" charset="-120"/>
              </a:endParaRPr>
            </a:p>
          </p:txBody>
        </p:sp>
      </p:grpSp>
      <p:grpSp>
        <p:nvGrpSpPr>
          <p:cNvPr id="50" name="Group 49"/>
          <p:cNvGrpSpPr/>
          <p:nvPr/>
        </p:nvGrpSpPr>
        <p:grpSpPr>
          <a:xfrm>
            <a:off x="3042093" y="327292"/>
            <a:ext cx="3213951" cy="7791932"/>
            <a:chOff x="11510176" y="272006"/>
            <a:chExt cx="3213951" cy="7791932"/>
          </a:xfrm>
        </p:grpSpPr>
        <p:sp>
          <p:nvSpPr>
            <p:cNvPr id="51" name="Rectangle 50"/>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52" name="TextBox 51"/>
            <p:cNvSpPr txBox="1"/>
            <p:nvPr/>
          </p:nvSpPr>
          <p:spPr>
            <a:xfrm>
              <a:off x="12559661" y="649121"/>
              <a:ext cx="2164466" cy="1107996"/>
            </a:xfrm>
            <a:prstGeom prst="rect">
              <a:avLst/>
            </a:prstGeom>
            <a:noFill/>
          </p:spPr>
          <p:txBody>
            <a:bodyPr wrap="square" rtlCol="0">
              <a:spAutoFit/>
            </a:bodyPr>
            <a:lstStyle/>
            <a:p>
              <a:r>
                <a:rPr lang="en-US" sz="6600" dirty="0"/>
                <a:t>1</a:t>
              </a:r>
              <a:endParaRPr lang="en-IN" sz="6600" dirty="0"/>
            </a:p>
          </p:txBody>
        </p:sp>
        <p:sp>
          <p:nvSpPr>
            <p:cNvPr id="53" name="TextBox 52"/>
            <p:cNvSpPr txBox="1"/>
            <p:nvPr/>
          </p:nvSpPr>
          <p:spPr>
            <a:xfrm>
              <a:off x="11844697" y="1477703"/>
              <a:ext cx="2650601" cy="1131079"/>
            </a:xfrm>
            <a:prstGeom prst="rect">
              <a:avLst/>
            </a:prstGeom>
            <a:noFill/>
          </p:spPr>
          <p:txBody>
            <a:bodyPr wrap="square" rtlCol="0">
              <a:spAutoFit/>
            </a:bodyPr>
            <a:lstStyle/>
            <a:p>
              <a:pPr marL="342900" indent="-342900" algn="just">
                <a:lnSpc>
                  <a:spcPts val="2735"/>
                </a:lnSpc>
                <a:buFont typeface="Arial" panose="020B0604020202020204" pitchFamily="34" charset="0"/>
                <a:buChar char="•"/>
              </a:pPr>
              <a:r>
                <a:rPr lang="en-US" sz="2000" b="1" dirty="0">
                  <a:solidFill>
                    <a:srgbClr val="272525"/>
                  </a:solidFill>
                  <a:latin typeface="Gelasio" pitchFamily="34" charset="0"/>
                  <a:ea typeface="Gelasio" pitchFamily="34" charset="-122"/>
                </a:rPr>
                <a:t>Streamlined operation and </a:t>
              </a:r>
              <a:endParaRPr lang="en-US" sz="2000" b="1" dirty="0">
                <a:solidFill>
                  <a:srgbClr val="272525"/>
                </a:solidFill>
                <a:latin typeface="Gelasio" pitchFamily="34" charset="0"/>
                <a:ea typeface="Gelasio" pitchFamily="34" charset="-122"/>
              </a:endParaRPr>
            </a:p>
            <a:p>
              <a:pPr algn="just">
                <a:lnSpc>
                  <a:spcPts val="2735"/>
                </a:lnSpc>
              </a:pPr>
              <a:r>
                <a:rPr lang="en-US" sz="2000" b="1" dirty="0">
                  <a:solidFill>
                    <a:srgbClr val="272525"/>
                  </a:solidFill>
                  <a:latin typeface="Gelasio" pitchFamily="34" charset="0"/>
                  <a:ea typeface="Gelasio" pitchFamily="34" charset="-122"/>
                </a:rPr>
                <a:t>     cost efficiency </a:t>
              </a:r>
              <a:endParaRPr lang="en-US" sz="2000" b="1" dirty="0"/>
            </a:p>
          </p:txBody>
        </p:sp>
        <p:sp>
          <p:nvSpPr>
            <p:cNvPr id="54" name="TextBox 53"/>
            <p:cNvSpPr txBox="1"/>
            <p:nvPr/>
          </p:nvSpPr>
          <p:spPr>
            <a:xfrm>
              <a:off x="11675362" y="2620781"/>
              <a:ext cx="2650601" cy="5443157"/>
            </a:xfrm>
            <a:prstGeom prst="rect">
              <a:avLst/>
            </a:prstGeom>
            <a:noFill/>
          </p:spPr>
          <p:txBody>
            <a:bodyPr wrap="square" rtlCol="0">
              <a:spAutoFit/>
            </a:bodyPr>
            <a:lstStyle/>
            <a:p>
              <a:pPr marL="0" indent="0">
                <a:lnSpc>
                  <a:spcPts val="2210"/>
                </a:lnSpc>
                <a:buNone/>
              </a:pPr>
              <a:r>
                <a:rPr lang="en-US" sz="1800" b="1" dirty="0">
                  <a:solidFill>
                    <a:srgbClr val="272525"/>
                  </a:solidFill>
                  <a:latin typeface="Lato" pitchFamily="34" charset="0"/>
                  <a:ea typeface="Lato" pitchFamily="34" charset="-122"/>
                  <a:cs typeface="Lato" pitchFamily="34" charset="-120"/>
                </a:rPr>
                <a:t>Integration Across Functions: </a:t>
              </a:r>
              <a:r>
                <a:rPr lang="en-US" sz="1800" dirty="0">
                  <a:solidFill>
                    <a:srgbClr val="272525"/>
                  </a:solidFill>
                  <a:latin typeface="Lato" pitchFamily="34" charset="0"/>
                  <a:ea typeface="Lato" pitchFamily="34" charset="-122"/>
                  <a:cs typeface="Lato" pitchFamily="34" charset="-120"/>
                </a:rPr>
                <a:t>SAP tools enable seamless integration of various business functions such as finance, procurement, manufacturing, and supply chain.</a:t>
              </a:r>
              <a:endParaRPr lang="en-US" sz="1800" dirty="0">
                <a:solidFill>
                  <a:srgbClr val="272525"/>
                </a:solidFill>
                <a:latin typeface="Lato" pitchFamily="34" charset="0"/>
                <a:ea typeface="Lato" pitchFamily="34" charset="-122"/>
                <a:cs typeface="Lato" pitchFamily="34" charset="-120"/>
              </a:endParaRPr>
            </a:p>
            <a:p>
              <a:pPr marL="0" indent="0">
                <a:lnSpc>
                  <a:spcPts val="2210"/>
                </a:lnSpc>
                <a:buNone/>
              </a:pPr>
              <a:r>
                <a:rPr lang="en-US" b="1" dirty="0"/>
                <a:t>Real-time </a:t>
              </a:r>
              <a:r>
                <a:rPr lang="en-US" b="1" dirty="0" err="1"/>
                <a:t>Visibility:</a:t>
              </a:r>
              <a:r>
                <a:rPr lang="en-US" sz="1800" dirty="0" err="1"/>
                <a:t>the</a:t>
              </a:r>
              <a:r>
                <a:rPr lang="en-US" sz="1800" dirty="0"/>
                <a:t> automobile industry, having up-to-date information is crucial for decision-making. Real-time data helps in identifying bottlenecks, optimizing inventory levels, and making informed decisions to reduce costs.</a:t>
              </a:r>
              <a:endParaRPr lang="en-US" sz="1800" dirty="0"/>
            </a:p>
          </p:txBody>
        </p:sp>
      </p:grpSp>
      <p:grpSp>
        <p:nvGrpSpPr>
          <p:cNvPr id="55" name="Group 54"/>
          <p:cNvGrpSpPr/>
          <p:nvPr/>
        </p:nvGrpSpPr>
        <p:grpSpPr>
          <a:xfrm>
            <a:off x="91843" y="-1310"/>
            <a:ext cx="3222774" cy="8111979"/>
            <a:chOff x="11510176" y="272006"/>
            <a:chExt cx="3213951" cy="7684280"/>
          </a:xfrm>
        </p:grpSpPr>
        <p:sp>
          <p:nvSpPr>
            <p:cNvPr id="56" name="Rectangle 55"/>
            <p:cNvSpPr/>
            <p:nvPr/>
          </p:nvSpPr>
          <p:spPr>
            <a:xfrm>
              <a:off x="11510176" y="272006"/>
              <a:ext cx="2932771" cy="7684280"/>
            </a:xfrm>
            <a:prstGeom prst="rect">
              <a:avLst/>
            </a:prstGeom>
            <a:solidFill>
              <a:schemeClr val="bg2"/>
            </a:solidFill>
            <a:ln>
              <a:noFill/>
            </a:ln>
            <a:effectLst>
              <a:outerShdw blurRad="635000" dist="127000" dir="30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600" dirty="0">
                <a:solidFill>
                  <a:schemeClr val="tx1"/>
                </a:solidFill>
              </a:endParaRPr>
            </a:p>
          </p:txBody>
        </p:sp>
        <p:sp>
          <p:nvSpPr>
            <p:cNvPr id="57" name="TextBox 56"/>
            <p:cNvSpPr txBox="1"/>
            <p:nvPr/>
          </p:nvSpPr>
          <p:spPr>
            <a:xfrm>
              <a:off x="12559661" y="649121"/>
              <a:ext cx="2164466" cy="1569660"/>
            </a:xfrm>
            <a:prstGeom prst="rect">
              <a:avLst/>
            </a:prstGeom>
            <a:noFill/>
          </p:spPr>
          <p:txBody>
            <a:bodyPr wrap="square" rtlCol="0">
              <a:spAutoFit/>
            </a:bodyPr>
            <a:lstStyle/>
            <a:p>
              <a:endParaRPr lang="en-IN" sz="9600" dirty="0"/>
            </a:p>
          </p:txBody>
        </p:sp>
        <p:sp>
          <p:nvSpPr>
            <p:cNvPr id="58" name="TextBox 57"/>
            <p:cNvSpPr txBox="1"/>
            <p:nvPr/>
          </p:nvSpPr>
          <p:spPr>
            <a:xfrm rot="16200000">
              <a:off x="9730285" y="3091213"/>
              <a:ext cx="6138301" cy="727689"/>
            </a:xfrm>
            <a:prstGeom prst="rect">
              <a:avLst/>
            </a:prstGeom>
            <a:noFill/>
          </p:spPr>
          <p:txBody>
            <a:bodyPr wrap="square" rtlCol="0">
              <a:spAutoFit/>
            </a:bodyPr>
            <a:lstStyle/>
            <a:p>
              <a:pPr marL="571500" indent="-571500" algn="ctr">
                <a:lnSpc>
                  <a:spcPts val="5470"/>
                </a:lnSpc>
                <a:buFont typeface="Wingdings" panose="05000000000000000000" pitchFamily="2" charset="2"/>
                <a:buChar char="v"/>
              </a:pPr>
              <a:r>
                <a:rPr lang="en-US" sz="3200" b="1" dirty="0">
                  <a:solidFill>
                    <a:srgbClr val="312F2B"/>
                  </a:solidFill>
                  <a:latin typeface="Gelasio" pitchFamily="34" charset="0"/>
                  <a:ea typeface="Gelasio" pitchFamily="34" charset="-122"/>
                  <a:cs typeface="Gelasio" pitchFamily="34" charset="-120"/>
                </a:rPr>
                <a:t>Importance of Efficient Processes</a:t>
              </a:r>
              <a:endParaRPr lang="en-US" sz="3200" b="1" dirty="0"/>
            </a:p>
          </p:txBody>
        </p:sp>
        <p:sp>
          <p:nvSpPr>
            <p:cNvPr id="59" name="TextBox 58"/>
            <p:cNvSpPr txBox="1"/>
            <p:nvPr/>
          </p:nvSpPr>
          <p:spPr>
            <a:xfrm>
              <a:off x="11808930" y="4147615"/>
              <a:ext cx="2650601" cy="364843"/>
            </a:xfrm>
            <a:prstGeom prst="rect">
              <a:avLst/>
            </a:prstGeom>
            <a:noFill/>
          </p:spPr>
          <p:txBody>
            <a:bodyPr wrap="square" rtlCol="0">
              <a:spAutoFit/>
            </a:bodyPr>
            <a:lstStyle/>
            <a:p>
              <a:pPr marL="0" indent="0">
                <a:lnSpc>
                  <a:spcPts val="2210"/>
                </a:lnSpc>
                <a:buNone/>
              </a:pPr>
              <a:endParaRPr lang="en-US" sz="1800" dirty="0"/>
            </a:p>
          </p:txBody>
        </p:sp>
      </p:grpSp>
      <p:pic>
        <p:nvPicPr>
          <p:cNvPr id="9" name="3D Model 8"/>
          <p:cNvPicPr>
            <a:picLocks noGrp="1" noRot="1" noChangeAspect="1" noMove="1" noResize="1" noEditPoints="1" noAdjustHandles="1" noChangeArrowheads="1" noChangeShapeType="1" noCrop="1"/>
          </p:cNvPicPr>
          <p:nvPr/>
        </p:nvPicPr>
        <p:blipFill>
          <a:blip r:embed="rId2"/>
          <a:stretch>
            <a:fillRect/>
          </a:stretch>
        </p:blipFill>
        <p:spPr>
          <a:xfrm>
            <a:off x="12320747" y="6681728"/>
            <a:ext cx="2168960" cy="14551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3D Model 14"/>
          <p:cNvPicPr>
            <a:picLocks noGrp="1" noRot="1" noChangeAspect="1" noMove="1" noResize="1" noEditPoints="1" noAdjustHandles="1" noChangeArrowheads="1" noChangeShapeType="1" noCrop="1"/>
          </p:cNvPicPr>
          <p:nvPr/>
        </p:nvPicPr>
        <p:blipFill>
          <a:blip r:embed="rId1"/>
          <a:stretch>
            <a:fillRect/>
          </a:stretch>
        </p:blipFill>
        <p:spPr>
          <a:xfrm>
            <a:off x="12595532" y="-259153"/>
            <a:ext cx="2110822" cy="1825576"/>
          </a:xfrm>
          <a:prstGeom prst="rect">
            <a:avLst/>
          </a:prstGeom>
        </p:spPr>
      </p:pic>
      <p:sp>
        <p:nvSpPr>
          <p:cNvPr id="14" name="TextBox 13"/>
          <p:cNvSpPr txBox="1"/>
          <p:nvPr/>
        </p:nvSpPr>
        <p:spPr>
          <a:xfrm>
            <a:off x="1494263" y="312234"/>
            <a:ext cx="9801921" cy="769441"/>
          </a:xfrm>
          <a:prstGeom prst="rect">
            <a:avLst/>
          </a:prstGeom>
          <a:noFill/>
        </p:spPr>
        <p:txBody>
          <a:bodyPr wrap="square" rtlCol="0">
            <a:spAutoFit/>
          </a:bodyPr>
          <a:lstStyle/>
          <a:p>
            <a:pPr algn="ctr"/>
            <a:r>
              <a:rPr lang="en-IN" sz="4400" b="1" dirty="0"/>
              <a:t>Case studies : successful implementation </a:t>
            </a:r>
            <a:endParaRPr lang="en-IN" sz="3200" b="1" dirty="0"/>
          </a:p>
        </p:txBody>
      </p:sp>
      <p:sp>
        <p:nvSpPr>
          <p:cNvPr id="16" name="TextBox 15"/>
          <p:cNvSpPr txBox="1"/>
          <p:nvPr/>
        </p:nvSpPr>
        <p:spPr>
          <a:xfrm>
            <a:off x="1265893" y="1081675"/>
            <a:ext cx="11329639" cy="6494085"/>
          </a:xfrm>
          <a:prstGeom prst="rect">
            <a:avLst/>
          </a:prstGeom>
          <a:noFill/>
        </p:spPr>
        <p:txBody>
          <a:bodyPr wrap="square" rtlCol="0">
            <a:spAutoFit/>
          </a:bodyPr>
          <a:lstStyle/>
          <a:p>
            <a:r>
              <a:rPr lang="en-US" sz="3200" dirty="0"/>
              <a:t>A small to medium enterprise successfully implemented efficient processes through the integration of SAP tools. By leveraging SAP comprehensive suite of solutions, the SME streamlined various aspects of its operations, including supply chain management, production planning, and customer relationship management. This implementation led to improved visibility across the entire value chain, enabling real-time data analysis and informed decision-making. The automation of key processes not only enhanced operational efficiency but also facilitated better resource allocation and cost control. As a result, the SME experienced increased productivity, reduced lead times, and heightened overall competitiveness in the dynamic landscape of the automobile industry.</a:t>
            </a:r>
            <a:endParaRPr lang="en-IN" sz="3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barn(inVertical)">
                                      <p:cBhvr>
                                        <p:cTn id="1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3D Model 14"/>
          <p:cNvPicPr>
            <a:picLocks noGrp="1" noRot="1" noChangeAspect="1" noMove="1" noResize="1" noEditPoints="1" noAdjustHandles="1" noChangeArrowheads="1" noChangeShapeType="1" noCrop="1"/>
          </p:cNvPicPr>
          <p:nvPr/>
        </p:nvPicPr>
        <p:blipFill>
          <a:blip r:embed="rId1"/>
          <a:stretch>
            <a:fillRect/>
          </a:stretch>
        </p:blipFill>
        <p:spPr>
          <a:xfrm>
            <a:off x="72203" y="3424398"/>
            <a:ext cx="1999364" cy="1931874"/>
          </a:xfrm>
          <a:prstGeom prst="rect">
            <a:avLst/>
          </a:prstGeom>
        </p:spPr>
      </p:pic>
      <p:sp>
        <p:nvSpPr>
          <p:cNvPr id="14" name="TextBox 13"/>
          <p:cNvSpPr txBox="1"/>
          <p:nvPr/>
        </p:nvSpPr>
        <p:spPr>
          <a:xfrm>
            <a:off x="3434576" y="234176"/>
            <a:ext cx="7883912" cy="707886"/>
          </a:xfrm>
          <a:prstGeom prst="rect">
            <a:avLst/>
          </a:prstGeom>
          <a:noFill/>
        </p:spPr>
        <p:txBody>
          <a:bodyPr wrap="square" rtlCol="0">
            <a:spAutoFit/>
          </a:bodyPr>
          <a:lstStyle/>
          <a:p>
            <a:r>
              <a:rPr lang="en-IN" sz="4000" b="1" dirty="0"/>
              <a:t>SAP Modules for Automobile SME</a:t>
            </a:r>
            <a:endParaRPr lang="en-IN" b="1" dirty="0"/>
          </a:p>
        </p:txBody>
      </p:sp>
      <p:sp>
        <p:nvSpPr>
          <p:cNvPr id="17" name="TextBox 16"/>
          <p:cNvSpPr txBox="1"/>
          <p:nvPr/>
        </p:nvSpPr>
        <p:spPr>
          <a:xfrm>
            <a:off x="1973766" y="1053575"/>
            <a:ext cx="11898352" cy="6555641"/>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automobile industry, utilizing SAP tools can greatly enhance efficiency across various processes.</a:t>
            </a: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 SAP offers a range of modules tailored to meet the specific needs of the automotive sector. Key modules for an SME in the automobile industry may include SAP ERP to streamline and integrate core business processes such as finance, procurement, and supply chain management. </a:t>
            </a: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SAP Product Lifecycle Management module can aid in managing product development and lifecycle processes, ensuring seamless collaboration among different departments. Additionally, SAP Customer Relationship Management can be employed to enhance customer engagement and satisfaction. </a:t>
            </a: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automobile industry can achieve greater operational efficiency, improved data visibility, and enhanced decision-making capabilities.</a:t>
            </a:r>
            <a:endParaRPr lang="en-IN" sz="2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3D Model 15"/>
          <p:cNvPicPr>
            <a:picLocks noGrp="1" noRot="1" noChangeAspect="1" noMove="1" noResize="1" noEditPoints="1" noAdjustHandles="1" noChangeArrowheads="1" noChangeShapeType="1" noCrop="1"/>
          </p:cNvPicPr>
          <p:nvPr/>
        </p:nvPicPr>
        <p:blipFill>
          <a:blip r:embed="rId1"/>
          <a:stretch>
            <a:fillRect/>
          </a:stretch>
        </p:blipFill>
        <p:spPr>
          <a:xfrm>
            <a:off x="13079647" y="6350556"/>
            <a:ext cx="1550753" cy="1512698"/>
          </a:xfrm>
          <a:prstGeom prst="rect">
            <a:avLst/>
          </a:prstGeom>
        </p:spPr>
      </p:pic>
      <p:pic>
        <p:nvPicPr>
          <p:cNvPr id="17" name="Picture 16"/>
          <p:cNvPicPr>
            <a:picLocks noChangeAspect="1"/>
          </p:cNvPicPr>
          <p:nvPr/>
        </p:nvPicPr>
        <p:blipFill>
          <a:blip r:embed="rId2"/>
          <a:stretch>
            <a:fillRect/>
          </a:stretch>
        </p:blipFill>
        <p:spPr>
          <a:xfrm>
            <a:off x="1490721" y="1735689"/>
            <a:ext cx="11648958" cy="5188986"/>
          </a:xfrm>
          <a:prstGeom prst="rect">
            <a:avLst/>
          </a:prstGeom>
        </p:spPr>
      </p:pic>
      <p:sp>
        <p:nvSpPr>
          <p:cNvPr id="18" name="TextBox 17"/>
          <p:cNvSpPr txBox="1"/>
          <p:nvPr/>
        </p:nvSpPr>
        <p:spPr>
          <a:xfrm>
            <a:off x="2017637" y="670197"/>
            <a:ext cx="11062010" cy="646331"/>
          </a:xfrm>
          <a:prstGeom prst="rect">
            <a:avLst/>
          </a:prstGeom>
          <a:noFill/>
        </p:spPr>
        <p:txBody>
          <a:bodyPr wrap="square" rtlCol="0">
            <a:spAutoFit/>
          </a:bodyPr>
          <a:lstStyle/>
          <a:p>
            <a:r>
              <a:rPr lang="en-US" sz="3600" b="1" dirty="0"/>
              <a:t>Benefits of Using SAP Tool in the Automobile Industry</a:t>
            </a:r>
            <a:endParaRPr lang="en-IN" sz="36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8"/>
                                        </p:tgtEl>
                                      </p:cBhvr>
                                    </p:animEffect>
                                    <p:set>
                                      <p:cBhvr>
                                        <p:cTn id="12"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5981"/>
            <a:ext cx="14630400" cy="8229600"/>
          </a:xfrm>
          <a:prstGeom prst="rect">
            <a:avLst/>
          </a:prstGeom>
          <a:solidFill>
            <a:srgbClr val="FFFFFF">
              <a:alpha val="75000"/>
            </a:srgbClr>
          </a:solidFill>
          <a:ln w="13811">
            <a:solidFill>
              <a:srgbClr val="FFFFFF">
                <a:alpha val="64000"/>
              </a:srgbClr>
            </a:solidFill>
            <a:prstDash val="solid"/>
          </a:ln>
        </p:spPr>
        <p:txBody>
          <a:bodyPr/>
          <a:lstStyle/>
          <a:p>
            <a:endParaRPr lang="en-IN" dirty="0"/>
          </a:p>
        </p:txBody>
      </p:sp>
      <p:sp>
        <p:nvSpPr>
          <p:cNvPr id="4" name="Text 1"/>
          <p:cNvSpPr/>
          <p:nvPr/>
        </p:nvSpPr>
        <p:spPr>
          <a:xfrm>
            <a:off x="6319598" y="628590"/>
            <a:ext cx="5969045" cy="694373"/>
          </a:xfrm>
          <a:prstGeom prst="rect">
            <a:avLst/>
          </a:prstGeom>
          <a:noFill/>
        </p:spPr>
        <p:txBody>
          <a:bodyPr wrap="none" rtlCol="0" anchor="t"/>
          <a:lstStyle/>
          <a:p>
            <a:pPr marL="0" indent="0">
              <a:lnSpc>
                <a:spcPts val="5470"/>
              </a:lnSpc>
              <a:buNone/>
            </a:pPr>
            <a:r>
              <a:rPr lang="en-US" sz="4375" b="1" dirty="0">
                <a:solidFill>
                  <a:srgbClr val="312F2B"/>
                </a:solidFill>
                <a:latin typeface="Gelasio" pitchFamily="34" charset="0"/>
                <a:ea typeface="Gelasio" pitchFamily="34" charset="-122"/>
              </a:rPr>
              <a:t>Challenges and solutions</a:t>
            </a:r>
            <a:endParaRPr lang="en-US" sz="4375" b="1" dirty="0"/>
          </a:p>
        </p:txBody>
      </p:sp>
      <p:sp>
        <p:nvSpPr>
          <p:cNvPr id="5" name="Text 2"/>
          <p:cNvSpPr/>
          <p:nvPr/>
        </p:nvSpPr>
        <p:spPr>
          <a:xfrm>
            <a:off x="6675001" y="3340298"/>
            <a:ext cx="7122200" cy="355402"/>
          </a:xfrm>
          <a:prstGeom prst="rect">
            <a:avLst/>
          </a:prstGeom>
          <a:noFill/>
        </p:spPr>
        <p:txBody>
          <a:bodyPr wrap="none" rtlCol="0" anchor="t"/>
          <a:lstStyle/>
          <a:p>
            <a:pPr marL="342900" indent="-342900" algn="l">
              <a:lnSpc>
                <a:spcPts val="2800"/>
              </a:lnSpc>
              <a:buSzPct val="100000"/>
              <a:buFont typeface="+mj-lt"/>
              <a:buAutoNum type="arabicPeriod"/>
            </a:pPr>
            <a:endParaRPr lang="en-US" sz="1750" dirty="0"/>
          </a:p>
        </p:txBody>
      </p:sp>
      <p:sp>
        <p:nvSpPr>
          <p:cNvPr id="6" name="Text 3"/>
          <p:cNvSpPr/>
          <p:nvPr/>
        </p:nvSpPr>
        <p:spPr>
          <a:xfrm>
            <a:off x="6675001" y="3784521"/>
            <a:ext cx="7122200" cy="355402"/>
          </a:xfrm>
          <a:prstGeom prst="rect">
            <a:avLst/>
          </a:prstGeom>
          <a:noFill/>
        </p:spPr>
        <p:txBody>
          <a:bodyPr wrap="none" rtlCol="0" anchor="t"/>
          <a:lstStyle/>
          <a:p>
            <a:pPr algn="l">
              <a:lnSpc>
                <a:spcPts val="2800"/>
              </a:lnSpc>
              <a:buSzPct val="100000"/>
            </a:pPr>
            <a:endParaRPr lang="en-US" sz="1750" dirty="0"/>
          </a:p>
        </p:txBody>
      </p:sp>
      <p:sp>
        <p:nvSpPr>
          <p:cNvPr id="7" name="Text 4"/>
          <p:cNvSpPr/>
          <p:nvPr/>
        </p:nvSpPr>
        <p:spPr>
          <a:xfrm>
            <a:off x="6675001" y="4228743"/>
            <a:ext cx="7122200" cy="355402"/>
          </a:xfrm>
          <a:prstGeom prst="rect">
            <a:avLst/>
          </a:prstGeom>
          <a:noFill/>
        </p:spPr>
        <p:txBody>
          <a:bodyPr wrap="none" rtlCol="0" anchor="t"/>
          <a:lstStyle/>
          <a:p>
            <a:pPr marL="342900" indent="-342900" algn="l">
              <a:lnSpc>
                <a:spcPts val="2800"/>
              </a:lnSpc>
              <a:buSzPct val="100000"/>
              <a:buFont typeface="+mj-lt"/>
              <a:buAutoNum type="arabicPeriod" startAt="3"/>
            </a:pPr>
            <a:endParaRPr lang="en-US" sz="1750" dirty="0"/>
          </a:p>
        </p:txBody>
      </p:sp>
      <p:sp>
        <p:nvSpPr>
          <p:cNvPr id="8" name="Text 5"/>
          <p:cNvSpPr/>
          <p:nvPr/>
        </p:nvSpPr>
        <p:spPr>
          <a:xfrm>
            <a:off x="6675001" y="4672965"/>
            <a:ext cx="7122200" cy="355402"/>
          </a:xfrm>
          <a:prstGeom prst="rect">
            <a:avLst/>
          </a:prstGeom>
          <a:noFill/>
        </p:spPr>
        <p:txBody>
          <a:bodyPr wrap="none" rtlCol="0" anchor="t"/>
          <a:lstStyle/>
          <a:p>
            <a:pPr marL="342900" indent="-342900" algn="l">
              <a:lnSpc>
                <a:spcPts val="2800"/>
              </a:lnSpc>
              <a:buSzPct val="100000"/>
              <a:buFont typeface="+mj-lt"/>
              <a:buAutoNum type="arabicPeriod" startAt="4"/>
            </a:pPr>
            <a:endParaRPr lang="en-US" sz="1750" dirty="0"/>
          </a:p>
        </p:txBody>
      </p:sp>
      <p:sp>
        <p:nvSpPr>
          <p:cNvPr id="9" name="Text 6"/>
          <p:cNvSpPr/>
          <p:nvPr/>
        </p:nvSpPr>
        <p:spPr>
          <a:xfrm>
            <a:off x="6675001" y="5117187"/>
            <a:ext cx="7122200" cy="355402"/>
          </a:xfrm>
          <a:prstGeom prst="rect">
            <a:avLst/>
          </a:prstGeom>
          <a:noFill/>
        </p:spPr>
        <p:txBody>
          <a:bodyPr wrap="none" rtlCol="0" anchor="t"/>
          <a:lstStyle/>
          <a:p>
            <a:pPr algn="l">
              <a:lnSpc>
                <a:spcPts val="2800"/>
              </a:lnSpc>
              <a:buSzPct val="100000"/>
            </a:pPr>
            <a:endParaRPr lang="en-US" sz="1750" dirty="0"/>
          </a:p>
        </p:txBody>
      </p:sp>
      <p:sp>
        <p:nvSpPr>
          <p:cNvPr id="10" name="Text 7"/>
          <p:cNvSpPr/>
          <p:nvPr/>
        </p:nvSpPr>
        <p:spPr>
          <a:xfrm>
            <a:off x="6675001" y="5561409"/>
            <a:ext cx="7122200" cy="355402"/>
          </a:xfrm>
          <a:prstGeom prst="rect">
            <a:avLst/>
          </a:prstGeom>
          <a:noFill/>
        </p:spPr>
        <p:txBody>
          <a:bodyPr wrap="none" rtlCol="0" anchor="t"/>
          <a:lstStyle/>
          <a:p>
            <a:pPr marL="342900" indent="-342900" algn="l">
              <a:lnSpc>
                <a:spcPts val="2800"/>
              </a:lnSpc>
              <a:buSzPct val="100000"/>
              <a:buFont typeface="+mj-lt"/>
              <a:buAutoNum type="arabicPeriod" startAt="6"/>
            </a:pPr>
            <a:endParaRPr lang="en-US" sz="1750" dirty="0"/>
          </a:p>
        </p:txBody>
      </p:sp>
      <p:pic>
        <p:nvPicPr>
          <p:cNvPr id="11" name="Image 1" descr="preencoded.png"/>
          <p:cNvPicPr>
            <a:picLocks noChangeAspect="1"/>
          </p:cNvPicPr>
          <p:nvPr/>
        </p:nvPicPr>
        <p:blipFill>
          <a:blip r:embed="rId2"/>
          <a:stretch>
            <a:fillRect/>
          </a:stretch>
        </p:blipFill>
        <p:spPr>
          <a:xfrm>
            <a:off x="0" y="0"/>
            <a:ext cx="2617076" cy="8229600"/>
          </a:xfrm>
          <a:prstGeom prst="rect">
            <a:avLst/>
          </a:prstGeom>
        </p:spPr>
      </p:pic>
      <p:pic>
        <p:nvPicPr>
          <p:cNvPr id="13" name="3D Model 12"/>
          <p:cNvPicPr>
            <a:picLocks noGrp="1" noRot="1" noChangeAspect="1" noMove="1" noResize="1" noEditPoints="1" noAdjustHandles="1" noChangeArrowheads="1" noChangeShapeType="1" noCrop="1"/>
          </p:cNvPicPr>
          <p:nvPr/>
        </p:nvPicPr>
        <p:blipFill>
          <a:blip r:embed="rId3"/>
          <a:stretch>
            <a:fillRect/>
          </a:stretch>
        </p:blipFill>
        <p:spPr>
          <a:xfrm>
            <a:off x="144966" y="3007043"/>
            <a:ext cx="1979866" cy="1637197"/>
          </a:xfrm>
          <a:prstGeom prst="rect">
            <a:avLst/>
          </a:prstGeom>
        </p:spPr>
      </p:pic>
      <p:sp>
        <p:nvSpPr>
          <p:cNvPr id="14" name="TextBox 13"/>
          <p:cNvSpPr txBox="1"/>
          <p:nvPr/>
        </p:nvSpPr>
        <p:spPr>
          <a:xfrm>
            <a:off x="2911366" y="1561171"/>
            <a:ext cx="11340662" cy="6001643"/>
          </a:xfrm>
          <a:prstGeom prst="rect">
            <a:avLst/>
          </a:prstGeom>
          <a:noFill/>
        </p:spPr>
        <p:txBody>
          <a:bodyPr wrap="square" rtlCol="0">
            <a:spAutoFit/>
          </a:bodyPr>
          <a:lstStyle/>
          <a:p>
            <a:pPr marL="342900" indent="-342900">
              <a:buFont typeface="Wingdings" panose="05000000000000000000" pitchFamily="2" charset="2"/>
              <a:buChar char="§"/>
            </a:pPr>
            <a:r>
              <a:rPr lang="en-US" sz="2400" dirty="0"/>
              <a:t>SME often face resource constraints, both in terms of financial investments and skilled personnel, making the initial adoption of SAP tools challenging. Adapting existing processes to align with SAP integrated approach can lead to resistance from employees accustomed to traditional workflows. </a:t>
            </a:r>
            <a:endParaRPr lang="en-US" sz="2400" dirty="0"/>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Training programs are essential to upskill the workforce and ensure a smooth transition. Furthermore, leveraging cloud-based solutions within SAP can alleviate the burden of infrastructure costs for SME. Continuous monitoring and feedback loops help refine the system over time, ensuring it aligns seamlessly with the unique needs of the SME in the dynamic automobile industry.</a:t>
            </a:r>
            <a:endParaRPr lang="en-US" sz="2400" dirty="0"/>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Training programs are essential to upskill the workforce and ensure a smooth transition. Furthermore, leveraging cloud-based solutions within SAP can alleviate the burden of infrastructure costs for SME. Continuous monitoring and feedback loops help refine the system over time, ensuring it aligns seamlessly with the unique needs of the SME in the dynamic automobile industry.</a:t>
            </a:r>
            <a:endParaRPr lang="en-IN" sz="2400" dirty="0"/>
          </a:p>
        </p:txBody>
      </p:sp>
      <p:pic>
        <p:nvPicPr>
          <p:cNvPr id="15" name="Picture 14"/>
          <p:cNvPicPr>
            <a:picLocks noChangeAspect="1"/>
          </p:cNvPicPr>
          <p:nvPr/>
        </p:nvPicPr>
        <p:blipFill rotWithShape="1">
          <a:blip r:embed="rId4"/>
          <a:srcRect l="29256" r="17987"/>
          <a:stretch>
            <a:fillRect/>
          </a:stretch>
        </p:blipFill>
        <p:spPr>
          <a:xfrm>
            <a:off x="496660" y="789490"/>
            <a:ext cx="1628172" cy="14763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3D Model 17"/>
          <p:cNvPicPr>
            <a:picLocks noGrp="1" noRot="1" noChangeAspect="1" noMove="1" noResize="1" noEditPoints="1" noAdjustHandles="1" noChangeArrowheads="1" noChangeShapeType="1" noCrop="1"/>
          </p:cNvPicPr>
          <p:nvPr/>
        </p:nvPicPr>
        <p:blipFill>
          <a:blip r:embed="rId1"/>
          <a:stretch>
            <a:fillRect/>
          </a:stretch>
        </p:blipFill>
        <p:spPr>
          <a:xfrm>
            <a:off x="12691033" y="6106996"/>
            <a:ext cx="2045713" cy="1665115"/>
          </a:xfrm>
          <a:prstGeom prst="rect">
            <a:avLst/>
          </a:prstGeom>
        </p:spPr>
      </p:pic>
      <p:sp>
        <p:nvSpPr>
          <p:cNvPr id="17" name="TextBox 16"/>
          <p:cNvSpPr txBox="1"/>
          <p:nvPr/>
        </p:nvSpPr>
        <p:spPr>
          <a:xfrm>
            <a:off x="1148576" y="334537"/>
            <a:ext cx="12377853" cy="1015663"/>
          </a:xfrm>
          <a:prstGeom prst="rect">
            <a:avLst/>
          </a:prstGeom>
          <a:noFill/>
        </p:spPr>
        <p:txBody>
          <a:bodyPr wrap="square" rtlCol="0">
            <a:spAutoFit/>
          </a:bodyPr>
          <a:lstStyle/>
          <a:p>
            <a:pPr algn="ctr"/>
            <a:r>
              <a:rPr lang="en-IN" sz="6000" b="1" dirty="0"/>
              <a:t>conclusions</a:t>
            </a:r>
            <a:endParaRPr lang="en-IN" sz="6000" b="1" dirty="0"/>
          </a:p>
        </p:txBody>
      </p:sp>
      <p:sp>
        <p:nvSpPr>
          <p:cNvPr id="19" name="TextBox 18"/>
          <p:cNvSpPr txBox="1"/>
          <p:nvPr/>
        </p:nvSpPr>
        <p:spPr>
          <a:xfrm>
            <a:off x="724829" y="1350200"/>
            <a:ext cx="12801600" cy="6001643"/>
          </a:xfrm>
          <a:prstGeom prst="rect">
            <a:avLst/>
          </a:prstGeom>
          <a:noFill/>
        </p:spPr>
        <p:txBody>
          <a:bodyPr wrap="square" rtlCol="0">
            <a:spAutoFit/>
          </a:bodyPr>
          <a:lstStyle/>
          <a:p>
            <a:r>
              <a:rPr lang="en-US" sz="3200" dirty="0"/>
              <a:t>The Automobile Industry has proven to be a transformative and highly efficient solution. By integrating SAP systems, SME can streamline their processes, enhance overall operational efficiency, and gain a competitive edge in the dynamic automotive sector. The SAP tool enables effective management of various business functions, from supply chain and inventory management to finance and customer relations, fostering a seamless and interconnected workflow. This not only reduces operational complexities but also improves decision-making processes through real-time data insights. As SMEs in the Automobile Industry continue to embrace SAP tools, they are well-positioned to adapt to evolving market demands, enhance productivity, and achieve sustainable growth in the highly competitive landscape of the automotive sector.</a:t>
            </a:r>
            <a:endParaRPr lang="en-IN" sz="3200" dirty="0"/>
          </a:p>
        </p:txBody>
      </p:sp>
      <p:sp>
        <p:nvSpPr>
          <p:cNvPr id="2" name="Shape 0"/>
          <p:cNvSpPr/>
          <p:nvPr/>
        </p:nvSpPr>
        <p:spPr>
          <a:xfrm>
            <a:off x="0" y="-157655"/>
            <a:ext cx="14630400" cy="8229600"/>
          </a:xfrm>
          <a:prstGeom prst="rect">
            <a:avLst/>
          </a:prstGeom>
          <a:solidFill>
            <a:srgbClr val="EDF1F8"/>
          </a:solidFill>
        </p:spPr>
        <p:txBody>
          <a:bodyPr/>
          <a:lstStyle/>
          <a:p>
            <a:endParaRPr lang="en-IN"/>
          </a:p>
        </p:txBody>
      </p:sp>
      <p:sp>
        <p:nvSpPr>
          <p:cNvPr id="3" name="Shape 1"/>
          <p:cNvSpPr/>
          <p:nvPr/>
        </p:nvSpPr>
        <p:spPr>
          <a:xfrm>
            <a:off x="0" y="-157655"/>
            <a:ext cx="14630400" cy="8229600"/>
          </a:xfrm>
          <a:prstGeom prst="rect">
            <a:avLst/>
          </a:prstGeom>
          <a:solidFill>
            <a:srgbClr val="FBFCFE"/>
          </a:solidFill>
        </p:spPr>
        <p:txBody>
          <a:bodyPr/>
          <a:lstStyle/>
          <a:p>
            <a:endParaRPr lang="en-IN"/>
          </a:p>
        </p:txBody>
      </p:sp>
      <p:pic>
        <p:nvPicPr>
          <p:cNvPr id="4" name="Image 0"/>
          <p:cNvPicPr>
            <a:picLocks noChangeAspect="1"/>
          </p:cNvPicPr>
          <p:nvPr/>
        </p:nvPicPr>
        <p:blipFill>
          <a:blip r:embed="rId2"/>
          <a:stretch>
            <a:fillRect/>
          </a:stretch>
        </p:blipFill>
        <p:spPr>
          <a:xfrm>
            <a:off x="0" y="-157655"/>
            <a:ext cx="14630400" cy="8229600"/>
          </a:xfrm>
          <a:prstGeom prst="rect">
            <a:avLst/>
          </a:prstGeom>
        </p:spPr>
      </p:pic>
      <p:sp>
        <p:nvSpPr>
          <p:cNvPr id="5" name="Shape 2"/>
          <p:cNvSpPr/>
          <p:nvPr/>
        </p:nvSpPr>
        <p:spPr>
          <a:xfrm>
            <a:off x="0" y="-448280"/>
            <a:ext cx="14630400" cy="8677880"/>
          </a:xfrm>
          <a:prstGeom prst="rect">
            <a:avLst/>
          </a:prstGeom>
          <a:solidFill>
            <a:srgbClr val="FBFCFE">
              <a:alpha val="85000"/>
            </a:srgbClr>
          </a:solidFill>
        </p:spPr>
        <p:txBody>
          <a:bodyPr/>
          <a:lstStyle/>
          <a:p>
            <a:r>
              <a:rPr lang="en-US"/>
              <a:t>interconnected workflow</a:t>
            </a:r>
            <a:endParaRPr lang="en-IN" dirty="0"/>
          </a:p>
        </p:txBody>
      </p:sp>
      <p:sp>
        <p:nvSpPr>
          <p:cNvPr id="6" name="Text 3"/>
          <p:cNvSpPr/>
          <p:nvPr/>
        </p:nvSpPr>
        <p:spPr>
          <a:xfrm>
            <a:off x="5362813" y="334537"/>
            <a:ext cx="4443889" cy="694373"/>
          </a:xfrm>
          <a:prstGeom prst="rect">
            <a:avLst/>
          </a:prstGeom>
          <a:noFill/>
        </p:spPr>
        <p:txBody>
          <a:bodyPr wrap="non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5470"/>
              </a:lnSpc>
              <a:buNone/>
            </a:pPr>
            <a:r>
              <a:rPr lang="en-US" sz="4375" dirty="0">
                <a:solidFill>
                  <a:srgbClr val="476FD6"/>
                </a:solidFill>
                <a:latin typeface="Roboto Slab" pitchFamily="34" charset="0"/>
                <a:ea typeface="Roboto Slab" pitchFamily="34" charset="-122"/>
                <a:cs typeface="Roboto Slab" pitchFamily="34" charset="-120"/>
              </a:rPr>
              <a:t>Conclusion</a:t>
            </a:r>
            <a:endParaRPr lang="en-US" sz="4375" dirty="0"/>
          </a:p>
        </p:txBody>
      </p:sp>
      <p:sp>
        <p:nvSpPr>
          <p:cNvPr id="7" name="Shape 4"/>
          <p:cNvSpPr/>
          <p:nvPr/>
        </p:nvSpPr>
        <p:spPr>
          <a:xfrm>
            <a:off x="1302268" y="1140240"/>
            <a:ext cx="499943" cy="499943"/>
          </a:xfrm>
          <a:prstGeom prst="roundRect">
            <a:avLst>
              <a:gd name="adj" fmla="val 26667"/>
            </a:avLst>
          </a:prstGeom>
          <a:solidFill>
            <a:srgbClr val="E7EDF9"/>
          </a:solidFill>
        </p:spPr>
        <p:txBody>
          <a:bodyPr/>
          <a:lstStyle/>
          <a:p>
            <a:endParaRPr lang="en-IN"/>
          </a:p>
        </p:txBody>
      </p:sp>
      <p:sp>
        <p:nvSpPr>
          <p:cNvPr id="8" name="Text 5"/>
          <p:cNvSpPr/>
          <p:nvPr/>
        </p:nvSpPr>
        <p:spPr>
          <a:xfrm>
            <a:off x="1483659" y="1131303"/>
            <a:ext cx="137160" cy="416481"/>
          </a:xfrm>
          <a:prstGeom prst="rect">
            <a:avLst/>
          </a:prstGeom>
          <a:noFill/>
        </p:spPr>
        <p:txBody>
          <a:bodyPr wrap="non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280"/>
              </a:lnSpc>
              <a:buNone/>
            </a:pPr>
            <a:r>
              <a:rPr lang="en-US" sz="2625" dirty="0">
                <a:solidFill>
                  <a:srgbClr val="476FD6"/>
                </a:solidFill>
                <a:latin typeface="Roboto Slab" pitchFamily="34" charset="0"/>
                <a:ea typeface="Roboto Slab" pitchFamily="34" charset="-122"/>
                <a:cs typeface="Roboto Slab" pitchFamily="34" charset="-120"/>
              </a:rPr>
              <a:t>1</a:t>
            </a:r>
            <a:endParaRPr lang="en-US" sz="2625" dirty="0"/>
          </a:p>
        </p:txBody>
      </p:sp>
      <p:sp>
        <p:nvSpPr>
          <p:cNvPr id="9" name="Text 6"/>
          <p:cNvSpPr/>
          <p:nvPr/>
        </p:nvSpPr>
        <p:spPr>
          <a:xfrm>
            <a:off x="1877238" y="1192545"/>
            <a:ext cx="2506980" cy="354806"/>
          </a:xfrm>
          <a:prstGeom prst="rect">
            <a:avLst/>
          </a:prstGeom>
          <a:noFill/>
        </p:spPr>
        <p:txBody>
          <a:bodyPr wrap="non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35"/>
              </a:lnSpc>
              <a:buNone/>
            </a:pPr>
            <a:r>
              <a:rPr lang="en-US" sz="2185" dirty="0">
                <a:solidFill>
                  <a:srgbClr val="476FD6"/>
                </a:solidFill>
                <a:latin typeface="Roboto Slab" pitchFamily="34" charset="0"/>
                <a:ea typeface="Roboto Slab" pitchFamily="34" charset="-122"/>
                <a:cs typeface="Roboto Slab" pitchFamily="34" charset="-120"/>
              </a:rPr>
              <a:t>Driving Success </a:t>
            </a:r>
            <a:r>
              <a:rPr lang="en-US" sz="2185" dirty="0">
                <a:solidFill>
                  <a:srgbClr val="000000"/>
                </a:solidFill>
                <a:latin typeface="Roboto Slab" pitchFamily="34" charset="0"/>
                <a:ea typeface="Roboto Slab" pitchFamily="34" charset="-122"/>
                <a:cs typeface="Roboto Slab" pitchFamily="34" charset="-120"/>
              </a:rPr>
              <a:t>🚀</a:t>
            </a:r>
            <a:endParaRPr lang="en-US" sz="2185" dirty="0"/>
          </a:p>
        </p:txBody>
      </p:sp>
      <p:sp>
        <p:nvSpPr>
          <p:cNvPr id="10" name="Text 7"/>
          <p:cNvSpPr/>
          <p:nvPr/>
        </p:nvSpPr>
        <p:spPr>
          <a:xfrm>
            <a:off x="1302267" y="1757311"/>
            <a:ext cx="7768161" cy="1421606"/>
          </a:xfrm>
          <a:prstGeom prst="rect">
            <a:avLst/>
          </a:prstGeom>
          <a:noFill/>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00"/>
              </a:lnSpc>
              <a:buNone/>
            </a:pPr>
            <a:r>
              <a:rPr lang="en-US" sz="1750" dirty="0">
                <a:solidFill>
                  <a:srgbClr val="15213F"/>
                </a:solidFill>
                <a:latin typeface="Roboto" pitchFamily="34" charset="0"/>
                <a:ea typeface="Roboto" pitchFamily="34" charset="-122"/>
                <a:cs typeface="Roboto" pitchFamily="34" charset="-120"/>
              </a:rPr>
              <a:t>Efficiency is paramount in the constantly evolving automobile industry. SMEs can leverage SAP to streamline their operations, reduce costs, and drive sustainable growth.</a:t>
            </a:r>
            <a:endParaRPr lang="en-US" sz="1750" dirty="0"/>
          </a:p>
        </p:txBody>
      </p:sp>
      <p:sp>
        <p:nvSpPr>
          <p:cNvPr id="11" name="Shape 8"/>
          <p:cNvSpPr/>
          <p:nvPr/>
        </p:nvSpPr>
        <p:spPr>
          <a:xfrm>
            <a:off x="1301692" y="3057411"/>
            <a:ext cx="499943" cy="499943"/>
          </a:xfrm>
          <a:prstGeom prst="roundRect">
            <a:avLst>
              <a:gd name="adj" fmla="val 26667"/>
            </a:avLst>
          </a:prstGeom>
          <a:solidFill>
            <a:srgbClr val="E7EDF9"/>
          </a:solidFill>
        </p:spPr>
        <p:txBody>
          <a:bodyPr/>
          <a:lstStyle/>
          <a:p>
            <a:endParaRPr lang="en-IN"/>
          </a:p>
        </p:txBody>
      </p:sp>
      <p:sp>
        <p:nvSpPr>
          <p:cNvPr id="12" name="Text 9"/>
          <p:cNvSpPr/>
          <p:nvPr/>
        </p:nvSpPr>
        <p:spPr>
          <a:xfrm>
            <a:off x="1465743" y="3057411"/>
            <a:ext cx="182880" cy="416481"/>
          </a:xfrm>
          <a:prstGeom prst="rect">
            <a:avLst/>
          </a:prstGeom>
          <a:noFill/>
        </p:spPr>
        <p:txBody>
          <a:bodyPr wrap="non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3280"/>
              </a:lnSpc>
              <a:buNone/>
            </a:pPr>
            <a:r>
              <a:rPr lang="en-US" sz="2625" dirty="0">
                <a:solidFill>
                  <a:srgbClr val="476FD6"/>
                </a:solidFill>
                <a:latin typeface="Roboto Slab" pitchFamily="34" charset="0"/>
                <a:ea typeface="Roboto Slab" pitchFamily="34" charset="-122"/>
                <a:cs typeface="Roboto Slab" pitchFamily="34" charset="-120"/>
              </a:rPr>
              <a:t>2</a:t>
            </a:r>
            <a:endParaRPr lang="en-US" sz="2625" dirty="0"/>
          </a:p>
        </p:txBody>
      </p:sp>
      <p:sp>
        <p:nvSpPr>
          <p:cNvPr id="13" name="Text 10"/>
          <p:cNvSpPr/>
          <p:nvPr/>
        </p:nvSpPr>
        <p:spPr>
          <a:xfrm>
            <a:off x="1802211" y="3093254"/>
            <a:ext cx="2461260" cy="347186"/>
          </a:xfrm>
          <a:prstGeom prst="rect">
            <a:avLst/>
          </a:prstGeom>
          <a:noFill/>
        </p:spPr>
        <p:txBody>
          <a:bodyPr wrap="non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35"/>
              </a:lnSpc>
              <a:buNone/>
            </a:pPr>
            <a:r>
              <a:rPr lang="en-US" sz="2185" dirty="0">
                <a:solidFill>
                  <a:srgbClr val="476FD6"/>
                </a:solidFill>
                <a:latin typeface="Roboto Slab" pitchFamily="34" charset="0"/>
                <a:ea typeface="Roboto Slab" pitchFamily="34" charset="-122"/>
                <a:cs typeface="Roboto Slab" pitchFamily="34" charset="-120"/>
              </a:rPr>
              <a:t>Take Action Today</a:t>
            </a:r>
            <a:endParaRPr lang="en-US" sz="2185" dirty="0"/>
          </a:p>
        </p:txBody>
      </p:sp>
      <p:sp>
        <p:nvSpPr>
          <p:cNvPr id="14" name="Text 11"/>
          <p:cNvSpPr/>
          <p:nvPr/>
        </p:nvSpPr>
        <p:spPr>
          <a:xfrm>
            <a:off x="1329531" y="3593197"/>
            <a:ext cx="7589485" cy="1421606"/>
          </a:xfrm>
          <a:prstGeom prst="rect">
            <a:avLst/>
          </a:prstGeom>
          <a:noFill/>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00"/>
              </a:lnSpc>
              <a:buNone/>
            </a:pPr>
            <a:r>
              <a:rPr lang="en-US" sz="1750" dirty="0">
                <a:solidFill>
                  <a:srgbClr val="15213F"/>
                </a:solidFill>
                <a:latin typeface="Roboto" pitchFamily="34" charset="0"/>
                <a:ea typeface="Roboto" pitchFamily="34" charset="-122"/>
                <a:cs typeface="Roboto" pitchFamily="34" charset="-120"/>
              </a:rPr>
              <a:t>Join the league of successful SMEs utilizing SAP to enhance efficiency. Explore the potential of SAP for your business and unlock a world of opportunities.</a:t>
            </a:r>
            <a:endParaRPr lang="en-US" sz="1750" dirty="0"/>
          </a:p>
        </p:txBody>
      </p:sp>
      <p:sp>
        <p:nvSpPr>
          <p:cNvPr id="16" name="Shape 8"/>
          <p:cNvSpPr/>
          <p:nvPr/>
        </p:nvSpPr>
        <p:spPr>
          <a:xfrm>
            <a:off x="1319421" y="5035866"/>
            <a:ext cx="499943" cy="499943"/>
          </a:xfrm>
          <a:prstGeom prst="roundRect">
            <a:avLst>
              <a:gd name="adj" fmla="val 26667"/>
            </a:avLst>
          </a:prstGeom>
          <a:solidFill>
            <a:srgbClr val="E7EDF9"/>
          </a:solidFill>
        </p:spPr>
        <p:txBody>
          <a:bodyPr/>
          <a:lstStyle/>
          <a:p>
            <a:pPr algn="ctr">
              <a:lnSpc>
                <a:spcPts val="3280"/>
              </a:lnSpc>
            </a:pPr>
            <a:r>
              <a:rPr lang="en-US" sz="2800" dirty="0">
                <a:solidFill>
                  <a:srgbClr val="476FD6"/>
                </a:solidFill>
                <a:latin typeface="Roboto Slab" pitchFamily="34" charset="0"/>
                <a:ea typeface="Roboto Slab" pitchFamily="34" charset="-122"/>
                <a:cs typeface="Roboto Slab" pitchFamily="34" charset="-120"/>
              </a:rPr>
              <a:t>3</a:t>
            </a:r>
            <a:endParaRPr lang="en-US" dirty="0"/>
          </a:p>
        </p:txBody>
      </p:sp>
      <p:sp>
        <p:nvSpPr>
          <p:cNvPr id="21" name="TextBox 20"/>
          <p:cNvSpPr txBox="1"/>
          <p:nvPr/>
        </p:nvSpPr>
        <p:spPr>
          <a:xfrm>
            <a:off x="1293760" y="5695608"/>
            <a:ext cx="7262648" cy="923330"/>
          </a:xfrm>
          <a:prstGeom prst="rect">
            <a:avLst/>
          </a:prstGeom>
          <a:noFill/>
        </p:spPr>
        <p:txBody>
          <a:bodyPr wrap="square" rtlCol="0">
            <a:spAutoFit/>
          </a:bodyPr>
          <a:lstStyle/>
          <a:p>
            <a:r>
              <a:rPr lang="en-US" dirty="0"/>
              <a:t>The SAP tool enables effective management of various business functions, from supply chain and inventory management to finance and customer relations, fostering a seamless and interconnected workflow.</a:t>
            </a:r>
            <a:endParaRPr lang="en-IN" dirty="0"/>
          </a:p>
        </p:txBody>
      </p:sp>
      <p:sp>
        <p:nvSpPr>
          <p:cNvPr id="22" name="TextBox 21"/>
          <p:cNvSpPr txBox="1"/>
          <p:nvPr/>
        </p:nvSpPr>
        <p:spPr>
          <a:xfrm>
            <a:off x="1845025" y="5122791"/>
            <a:ext cx="4046482" cy="677108"/>
          </a:xfrm>
          <a:prstGeom prst="rect">
            <a:avLst/>
          </a:prstGeom>
          <a:noFill/>
        </p:spPr>
        <p:txBody>
          <a:bodyPr wrap="square" rtlCol="0">
            <a:spAutoFit/>
          </a:bodyPr>
          <a:lstStyle/>
          <a:p>
            <a:r>
              <a:rPr lang="en-US" sz="2000" dirty="0">
                <a:solidFill>
                  <a:srgbClr val="476FD6"/>
                </a:solidFill>
                <a:latin typeface="Roboto Slab" pitchFamily="34" charset="0"/>
                <a:ea typeface="Roboto Slab" pitchFamily="34" charset="-122"/>
                <a:cs typeface="Roboto Slab" pitchFamily="34" charset="-120"/>
              </a:rPr>
              <a:t>Take Action Today</a:t>
            </a:r>
            <a:endParaRPr lang="en-US" sz="2000" dirty="0"/>
          </a:p>
          <a:p>
            <a:endParaRPr lang="en-IN" dirty="0"/>
          </a:p>
        </p:txBody>
      </p:sp>
      <p:pic>
        <p:nvPicPr>
          <p:cNvPr id="24" name="Image 0"/>
          <p:cNvPicPr>
            <a:picLocks noChangeAspect="1"/>
          </p:cNvPicPr>
          <p:nvPr/>
        </p:nvPicPr>
        <p:blipFill>
          <a:blip r:embed="rId3"/>
          <a:stretch>
            <a:fillRect/>
          </a:stretch>
        </p:blipFill>
        <p:spPr>
          <a:xfrm>
            <a:off x="9144000" y="5255"/>
            <a:ext cx="5486400" cy="8229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1000" fill="hold"/>
                                        <p:tgtEl>
                                          <p:spTgt spid="17"/>
                                        </p:tgtEl>
                                        <p:attrNameLst>
                                          <p:attrName>ppt_w</p:attrName>
                                        </p:attrNameLst>
                                      </p:cBhvr>
                                      <p:tavLst>
                                        <p:tav tm="0">
                                          <p:val>
                                            <p:fltVal val="0"/>
                                          </p:val>
                                        </p:tav>
                                        <p:tav tm="100000">
                                          <p:val>
                                            <p:strVal val="#ppt_w"/>
                                          </p:val>
                                        </p:tav>
                                      </p:tavLst>
                                    </p:anim>
                                    <p:anim calcmode="lin" valueType="num">
                                      <p:cBhvr>
                                        <p:cTn id="8" dur="1000" fill="hold"/>
                                        <p:tgtEl>
                                          <p:spTgt spid="17"/>
                                        </p:tgtEl>
                                        <p:attrNameLst>
                                          <p:attrName>ppt_h</p:attrName>
                                        </p:attrNameLst>
                                      </p:cBhvr>
                                      <p:tavLst>
                                        <p:tav tm="0">
                                          <p:val>
                                            <p:fltVal val="0"/>
                                          </p:val>
                                        </p:tav>
                                        <p:tav tm="100000">
                                          <p:val>
                                            <p:strVal val="#ppt_h"/>
                                          </p:val>
                                        </p:tav>
                                      </p:tavLst>
                                    </p:anim>
                                    <p:anim calcmode="lin" valueType="num">
                                      <p:cBhvr>
                                        <p:cTn id="9" dur="1000" fill="hold"/>
                                        <p:tgtEl>
                                          <p:spTgt spid="17"/>
                                        </p:tgtEl>
                                        <p:attrNameLst>
                                          <p:attrName>style.rotation</p:attrName>
                                        </p:attrNameLst>
                                      </p:cBhvr>
                                      <p:tavLst>
                                        <p:tav tm="0">
                                          <p:val>
                                            <p:fltVal val="90"/>
                                          </p:val>
                                        </p:tav>
                                        <p:tav tm="100000">
                                          <p:val>
                                            <p:fltVal val="0"/>
                                          </p:val>
                                        </p:tav>
                                      </p:tavLst>
                                    </p:anim>
                                    <p:animEffect transition="in" filter="fade">
                                      <p:cBhvr>
                                        <p:cTn id="1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3" name="Pentagon 12"/>
          <p:cNvSpPr/>
          <p:nvPr/>
        </p:nvSpPr>
        <p:spPr>
          <a:xfrm>
            <a:off x="1" y="0"/>
            <a:ext cx="14787562" cy="8229600"/>
          </a:xfrm>
          <a:prstGeom prst="pentagon">
            <a:avLst/>
          </a:prstGeom>
          <a:blipFill>
            <a:blip r:embed="rId1"/>
            <a:stretch>
              <a:fillRect/>
            </a:stretch>
          </a:blipFill>
          <a:ln>
            <a:noFill/>
          </a:ln>
          <a:effectLst>
            <a:innerShdw blurRad="419100" dist="368300" dir="24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Pentagon 11"/>
          <p:cNvSpPr/>
          <p:nvPr/>
        </p:nvSpPr>
        <p:spPr>
          <a:xfrm>
            <a:off x="3886200" y="1257300"/>
            <a:ext cx="7400925" cy="4900613"/>
          </a:xfrm>
          <a:prstGeom prst="pentagon">
            <a:avLst/>
          </a:prstGeom>
          <a:solidFill>
            <a:schemeClr val="accent2">
              <a:lumMod val="20000"/>
              <a:lumOff val="80000"/>
            </a:schemeClr>
          </a:solidFill>
          <a:ln>
            <a:noFill/>
          </a:ln>
          <a:effectLst>
            <a:outerShdw blurRad="228600" dist="304800" dir="108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 YOU</a:t>
            </a:r>
            <a:endParaRPr lang="en-IN" sz="6000" dirty="0">
              <a:solidFill>
                <a:schemeClr val="tx1"/>
              </a:solidFill>
            </a:endParaRPr>
          </a:p>
        </p:txBody>
      </p:sp>
      <p:pic>
        <p:nvPicPr>
          <p:cNvPr id="3" name="3D Model 2"/>
          <p:cNvPicPr>
            <a:picLocks noGrp="1" noRot="1" noChangeAspect="1" noMove="1" noResize="1" noEditPoints="1" noAdjustHandles="1" noChangeArrowheads="1" noChangeShapeType="1" noCrop="1"/>
          </p:cNvPicPr>
          <p:nvPr/>
        </p:nvPicPr>
        <p:blipFill>
          <a:blip r:embed="rId2"/>
          <a:stretch>
            <a:fillRect/>
          </a:stretch>
        </p:blipFill>
        <p:spPr>
          <a:xfrm>
            <a:off x="12713309" y="3567102"/>
            <a:ext cx="2064738" cy="14748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9440</Words>
  <Application>WPS Presentation</Application>
  <PresentationFormat>Custom</PresentationFormat>
  <Paragraphs>207</Paragraphs>
  <Slides>15</Slides>
  <Notes>14</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15</vt:i4>
      </vt:variant>
    </vt:vector>
  </HeadingPairs>
  <TitlesOfParts>
    <vt:vector size="38" baseType="lpstr">
      <vt:lpstr>Arial</vt:lpstr>
      <vt:lpstr>SimSun</vt:lpstr>
      <vt:lpstr>Wingdings</vt:lpstr>
      <vt:lpstr>ADLaM Display</vt:lpstr>
      <vt:lpstr>Calibri</vt:lpstr>
      <vt:lpstr>Gelasio</vt:lpstr>
      <vt:lpstr>Gelasio</vt:lpstr>
      <vt:lpstr>Gelasio</vt:lpstr>
      <vt:lpstr>Lato</vt:lpstr>
      <vt:lpstr>Lato</vt:lpstr>
      <vt:lpstr>Lato</vt:lpstr>
      <vt:lpstr>Roboto</vt:lpstr>
      <vt:lpstr>Times New Roman</vt:lpstr>
      <vt:lpstr>Roboto</vt:lpstr>
      <vt:lpstr>Roboto</vt:lpstr>
      <vt:lpstr>Segoe Print</vt:lpstr>
      <vt:lpstr>Roboto Slab</vt:lpstr>
      <vt:lpstr>Roboto Slab</vt:lpstr>
      <vt:lpstr>Roboto Slab</vt:lpstr>
      <vt:lpstr>Microsoft YaHei</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USER</cp:lastModifiedBy>
  <cp:revision>15</cp:revision>
  <dcterms:created xsi:type="dcterms:W3CDTF">2023-10-04T17:12:00Z</dcterms:created>
  <dcterms:modified xsi:type="dcterms:W3CDTF">2025-02-16T04:08:25Z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2023-10-04T19:01:56Z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dc0058f9-cd2e-40ed-ab27-cb5dc4948c5e</vt:lpwstr>
  </property>
  <property fmtid="{D5CDD505-2E9C-101B-9397-08002B2CF9AE}" pid="7" name="MSIP_Label_defa4170-0d19-0005-0004-bc88714345d2_ActionId">
    <vt:lpwstr>a0571cf5-c6ac-4ec2-ac19-08e305e45965</vt:lpwstr>
  </property>
  <property fmtid="{D5CDD505-2E9C-101B-9397-08002B2CF9AE}" pid="8" name="MSIP_Label_defa4170-0d19-0005-0004-bc88714345d2_ContentBits">
    <vt:lpwstr>0</vt:lpwstr>
  </property>
  <property fmtid="{D5CDD505-2E9C-101B-9397-08002B2CF9AE}" pid="9" name="ICV">
    <vt:lpwstr>D051BE3680644C688923DFD476D74F25_12</vt:lpwstr>
  </property>
  <property fmtid="{D5CDD505-2E9C-101B-9397-08002B2CF9AE}" pid="10" name="KSOProductBuildVer">
    <vt:lpwstr>2057-12.2.0.19821</vt:lpwstr>
  </property>
</Properties>
</file>